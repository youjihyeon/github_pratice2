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0" r:id="rId4"/>
    <p:sldId id="268" r:id="rId5"/>
    <p:sldId id="267" r:id="rId6"/>
    <p:sldId id="269" r:id="rId7"/>
    <p:sldId id="272" r:id="rId8"/>
    <p:sldId id="271" r:id="rId9"/>
    <p:sldId id="273" r:id="rId10"/>
    <p:sldId id="260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" userDrawn="1">
          <p15:clr>
            <a:srgbClr val="A4A3A4"/>
          </p15:clr>
        </p15:guide>
        <p15:guide id="2" pos="4906" userDrawn="1">
          <p15:clr>
            <a:srgbClr val="A4A3A4"/>
          </p15:clr>
        </p15:guide>
        <p15:guide id="3" orient="horz" pos="13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43" autoAdjust="0"/>
    <p:restoredTop sz="94660"/>
  </p:normalViewPr>
  <p:slideViewPr>
    <p:cSldViewPr snapToGrid="0" showGuides="1">
      <p:cViewPr varScale="1">
        <p:scale>
          <a:sx n="162" d="100"/>
          <a:sy n="162" d="100"/>
        </p:scale>
        <p:origin x="822" y="84"/>
      </p:cViewPr>
      <p:guideLst>
        <p:guide orient="horz" pos="73"/>
        <p:guide pos="4906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7405E-8498-4702-8F07-E887C6FA5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828E63-CBD7-42CA-964D-7499ED5CE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FAC68-4B0E-46D3-B25D-1310EA95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0CD379-1D68-47B8-9E8E-C1E5F7C1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C74CFD-508D-412A-B100-FE6A8654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9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6D54-DD26-42C1-B1A7-FB78FB7D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C5A15-B85D-458A-9DA0-0DCE3F887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28CA5-2513-4439-9B2B-B3262EF22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B6E53-C1ED-4473-B0DB-CD632B2E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D455D-F57B-48A5-959D-1B97B989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51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CD7D8-E81A-4B96-960C-4166BE8E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E9731-4EB1-4E8D-92FB-58C3D1327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80F82-07EB-43A5-BCEB-E83ABBAD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C722B-FAAD-4E71-B559-7F14558C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1F1A3-1D82-454B-ADE0-895B6FB2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00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894A6-7738-417B-A5EC-92CD2E42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F396-A805-4FB6-9E05-C00119A14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E907BF-DA8A-4C1D-AEC0-A0008D9FC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055564-A041-497D-A2C5-42B08810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AC411-90C4-4F7C-A0D3-6F4A1284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52B1D5-0925-413F-AE7F-EEFBF20E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90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DC68F-E844-4D7C-BAC7-DD853E86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97D15E-9D39-4913-A8FC-72E5BEFB9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999F6-95CD-40B2-B7F9-53CC83DAB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49A631-B2D8-4C52-AAAA-BFAB49B5E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884A88-70EF-45AD-A390-EFC846513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C03A93-06A3-4051-B3E9-B8DE1DB6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DE3A97-BBCA-4F55-AD3C-70A50FE9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14CF11-05EA-4F59-9843-8A49AB43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83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BDECD-4220-47E1-BA6A-5D642FCD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3375B7-82AE-4912-B1CE-E09C01AC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65619E-E4EC-42F0-8396-5D07BC8C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F0F53-563E-4E5B-9654-0AED75BD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0C3CAD-5F94-42DE-9C3C-F6CA7F09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3412BD-714D-490A-9960-7DDBBA37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6CB941-3417-4A98-B634-73F20506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52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68654-6EA3-40B3-9BA5-979ACB2F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2950D0-1D29-4D08-82EA-26BB8F093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73795B-5626-4C73-9749-2716E187C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7C3251-F824-4599-A013-4FFF1CD8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B3D2-BE91-4644-9FCA-2D5A9F1C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96DA1-AAFE-47AC-8C73-81F09FBA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1DF9B-469C-42CD-92BB-3B9B8BEC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2177B5-519D-4DFA-A81C-41F8CB32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3D9D71-E35B-4778-ABA0-6979EA3AF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FDC1F9-CA43-4896-AB26-356F785A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75FA6A-1874-4CBE-9F33-E0189473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6ACDE5-DEB9-4FA3-B034-7AB836BF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67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8D4E9-5843-4F57-995B-25D6231C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9B123B-88EF-46DB-B8A7-AFB410DF2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92842-FBBA-4481-96C9-043618A5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50346-D6D5-498A-AC09-A227CC02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3CC13-490D-4B5E-B098-3DFAF9BF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03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57B84C-4094-4768-B51F-38EBB398D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29E558-3CC0-451D-A8FB-0D7F049C8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6054A-2D16-43FE-81D8-F3AB7BA7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C1D14-79C9-47A2-8FC5-CE542E2A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F764F-2DDB-4AE8-90CB-D79742E9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23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B7AE90-B416-455E-B2B2-C2CD830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E906B-FED0-43B7-BB73-C1E35EFB6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45C2F-D486-4DA6-ADF6-733D38CBB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22085-322E-48AB-BAF1-47164318F897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25C8E3-6BE6-4F13-8442-CFED84FED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692C9-CFCE-4BE0-B8B3-A6F4D0965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1FE2-7652-4CB2-9FC4-9BFFFF4CE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22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12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12" Type="http://schemas.openxmlformats.org/officeDocument/2006/relationships/image" Target="../media/image43.png"/><Relationship Id="rId17" Type="http://schemas.openxmlformats.org/officeDocument/2006/relationships/image" Target="../media/image48.jpeg"/><Relationship Id="rId2" Type="http://schemas.openxmlformats.org/officeDocument/2006/relationships/image" Target="../media/image33.jpeg"/><Relationship Id="rId16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11" Type="http://schemas.openxmlformats.org/officeDocument/2006/relationships/image" Target="../media/image42.png"/><Relationship Id="rId5" Type="http://schemas.openxmlformats.org/officeDocument/2006/relationships/image" Target="../media/image36.jpeg"/><Relationship Id="rId15" Type="http://schemas.openxmlformats.org/officeDocument/2006/relationships/image" Target="../media/image46.jpeg"/><Relationship Id="rId10" Type="http://schemas.openxmlformats.org/officeDocument/2006/relationships/image" Target="../media/image41.png"/><Relationship Id="rId19" Type="http://schemas.openxmlformats.org/officeDocument/2006/relationships/image" Target="../media/image50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8D0BBD-7CCD-46BD-978E-D0DE260B0158}"/>
              </a:ext>
            </a:extLst>
          </p:cNvPr>
          <p:cNvSpPr txBox="1"/>
          <p:nvPr/>
        </p:nvSpPr>
        <p:spPr>
          <a:xfrm>
            <a:off x="358876" y="188485"/>
            <a:ext cx="31453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260614</a:t>
            </a:r>
          </a:p>
          <a:p>
            <a:endParaRPr lang="en-US" altLang="ko-KR"/>
          </a:p>
          <a:p>
            <a:r>
              <a:rPr lang="en-US" altLang="ko-KR"/>
              <a:t>LB FACS 24h</a:t>
            </a:r>
            <a:r>
              <a:rPr lang="ko-KR" altLang="en-US"/>
              <a:t>이후</a:t>
            </a:r>
            <a:r>
              <a:rPr lang="en-US" altLang="ko-KR"/>
              <a:t> </a:t>
            </a:r>
            <a:r>
              <a:rPr lang="ko-KR" altLang="en-US"/>
              <a:t>배양 </a:t>
            </a:r>
            <a:r>
              <a:rPr lang="en-US" altLang="ko-KR"/>
              <a:t>test</a:t>
            </a:r>
          </a:p>
          <a:p>
            <a:r>
              <a:rPr lang="en-US" altLang="ko-KR"/>
              <a:t>library</a:t>
            </a:r>
            <a:r>
              <a:rPr lang="ko-KR" altLang="en-US"/>
              <a:t> </a:t>
            </a:r>
            <a:r>
              <a:rPr lang="en-US" altLang="ko-KR"/>
              <a:t>OD600 </a:t>
            </a:r>
            <a:r>
              <a:rPr lang="en-US" altLang="ko-KR">
                <a:sym typeface="Wingdings" panose="05000000000000000000" pitchFamily="2" charset="2"/>
              </a:rPr>
              <a:t> 62.8</a:t>
            </a:r>
            <a:endParaRPr lang="en-US" altLang="ko-KR"/>
          </a:p>
          <a:p>
            <a:r>
              <a:rPr lang="en-US" altLang="ko-KR"/>
              <a:t>12uL </a:t>
            </a:r>
            <a:r>
              <a:rPr lang="ko-KR" altLang="en-US"/>
              <a:t>씩 따서 배양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o/n control </a:t>
            </a:r>
          </a:p>
          <a:p>
            <a:r>
              <a:rPr lang="en-US" altLang="ko-KR"/>
              <a:t>|sample| od600 |0.4</a:t>
            </a:r>
            <a:r>
              <a:rPr lang="ko-KR" altLang="en-US"/>
              <a:t> </a:t>
            </a:r>
            <a:r>
              <a:rPr lang="en-US" altLang="ko-KR"/>
              <a:t>od600 |</a:t>
            </a:r>
          </a:p>
          <a:p>
            <a:r>
              <a:rPr lang="en-US" altLang="ko-KR"/>
              <a:t>|-------|----|--------|</a:t>
            </a:r>
          </a:p>
          <a:p>
            <a:r>
              <a:rPr lang="en-US" altLang="ko-KR"/>
              <a:t>|wt     | 5| 160uL |</a:t>
            </a:r>
          </a:p>
          <a:p>
            <a:r>
              <a:rPr lang="en-US" altLang="ko-KR"/>
              <a:t>|e135k | 4.6 | 173uL |</a:t>
            </a:r>
          </a:p>
          <a:p>
            <a:r>
              <a:rPr lang="en-US" altLang="ko-KR"/>
              <a:t>|m52i  | 5.23 | 153uL |</a:t>
            </a:r>
          </a:p>
          <a:p>
            <a:r>
              <a:rPr lang="en-US" altLang="ko-KR"/>
              <a:t>|nc     | 4.68| 173uL |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2CFEAA0-0917-42F2-BC21-5EA6007DA2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1" t="29333" r="5852" b="11890"/>
          <a:stretch/>
        </p:blipFill>
        <p:spPr>
          <a:xfrm rot="16200000">
            <a:off x="8371486" y="2123086"/>
            <a:ext cx="1407233" cy="14179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7E04DB-800A-4714-905D-B9995DCA0E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9" t="38111" r="10296" b="4889"/>
          <a:stretch/>
        </p:blipFill>
        <p:spPr>
          <a:xfrm rot="16200000">
            <a:off x="6972294" y="2140798"/>
            <a:ext cx="1403984" cy="138242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0A8B307-5D1D-45A0-B2A6-33B1EC6B2F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9" t="31148" r="7530" b="11259"/>
          <a:stretch/>
        </p:blipFill>
        <p:spPr>
          <a:xfrm rot="16200000">
            <a:off x="5570583" y="2121673"/>
            <a:ext cx="1413328" cy="141332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43D59E7-DEA3-4EBB-9366-20FD796ECA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33445" r="12074" b="8666"/>
          <a:stretch/>
        </p:blipFill>
        <p:spPr>
          <a:xfrm rot="16200000">
            <a:off x="4165964" y="2122399"/>
            <a:ext cx="1406796" cy="14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B96EAB1-A07A-4F7A-B029-B4512C2F7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57150"/>
            <a:ext cx="10857163" cy="6800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C3295-011F-4342-8A86-02786B593A04}"/>
              </a:ext>
            </a:extLst>
          </p:cNvPr>
          <p:cNvSpPr txBox="1"/>
          <p:nvPr/>
        </p:nvSpPr>
        <p:spPr>
          <a:xfrm>
            <a:off x="0" y="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260614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46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242424-00D4-4003-A74A-C834F7D70D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2" t="6081" r="1682"/>
          <a:stretch/>
        </p:blipFill>
        <p:spPr>
          <a:xfrm>
            <a:off x="0" y="1057910"/>
            <a:ext cx="12067808" cy="4542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C3295-011F-4342-8A86-02786B593A04}"/>
              </a:ext>
            </a:extLst>
          </p:cNvPr>
          <p:cNvSpPr txBox="1"/>
          <p:nvPr/>
        </p:nvSpPr>
        <p:spPr>
          <a:xfrm>
            <a:off x="0" y="63500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260614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60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FAEC8E-2FAD-4A78-B4A3-3913C8DD9D7D}"/>
              </a:ext>
            </a:extLst>
          </p:cNvPr>
          <p:cNvSpPr/>
          <p:nvPr/>
        </p:nvSpPr>
        <p:spPr>
          <a:xfrm>
            <a:off x="381000" y="557659"/>
            <a:ext cx="5524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260616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>
                <a:sym typeface="Wingdings" panose="05000000000000000000" pitchFamily="2" charset="2"/>
              </a:rPr>
              <a:t>lb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o/n</a:t>
            </a:r>
            <a:r>
              <a:rPr lang="ko-KR" altLang="en-US">
                <a:sym typeface="Wingdings" panose="05000000000000000000" pitchFamily="2" charset="2"/>
              </a:rPr>
              <a:t>후 </a:t>
            </a:r>
            <a:r>
              <a:rPr lang="en-US" altLang="ko-KR">
                <a:sym typeface="Wingdings" panose="05000000000000000000" pitchFamily="2" charset="2"/>
              </a:rPr>
              <a:t>0.4 </a:t>
            </a:r>
            <a:r>
              <a:rPr lang="ko-KR" altLang="en-US">
                <a:sym typeface="Wingdings" panose="05000000000000000000" pitchFamily="2" charset="2"/>
              </a:rPr>
              <a:t>맞춰서 </a:t>
            </a:r>
            <a:r>
              <a:rPr lang="en-US" altLang="ko-KR">
                <a:sym typeface="Wingdings" panose="05000000000000000000" pitchFamily="2" charset="2"/>
              </a:rPr>
              <a:t>m9ace</a:t>
            </a:r>
            <a:r>
              <a:rPr lang="ko-KR" altLang="en-US">
                <a:sym typeface="Wingdings" panose="05000000000000000000" pitchFamily="2" charset="2"/>
              </a:rPr>
              <a:t>에서 배양시작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o/n </a:t>
            </a:r>
            <a:r>
              <a:rPr lang="ko-KR" altLang="en-US"/>
              <a:t>배양</a:t>
            </a:r>
            <a:endParaRPr lang="en-US" altLang="ko-KR"/>
          </a:p>
          <a:p>
            <a:r>
              <a:rPr lang="en-US" altLang="ko-KR"/>
              <a:t>|Sample | 1/10 </a:t>
            </a:r>
            <a:r>
              <a:rPr lang="ko-KR" altLang="en-US"/>
              <a:t>희석 </a:t>
            </a:r>
            <a:r>
              <a:rPr lang="en-US" altLang="ko-KR"/>
              <a:t>|</a:t>
            </a:r>
          </a:p>
          <a:p>
            <a:r>
              <a:rPr lang="en-US" altLang="ko-KR"/>
              <a:t>|--------|-------------|</a:t>
            </a:r>
          </a:p>
          <a:p>
            <a:r>
              <a:rPr lang="en-US" altLang="ko-KR"/>
              <a:t>|wt      | 0.445       |</a:t>
            </a:r>
          </a:p>
          <a:p>
            <a:r>
              <a:rPr lang="en-US" altLang="ko-KR"/>
              <a:t>|e135k | 0.449       |</a:t>
            </a:r>
          </a:p>
          <a:p>
            <a:r>
              <a:rPr lang="en-US" altLang="ko-KR"/>
              <a:t>|m52i  | 0.393       |</a:t>
            </a:r>
          </a:p>
          <a:p>
            <a:r>
              <a:rPr lang="en-US" altLang="ko-KR"/>
              <a:t>|nc     | 0.489       |</a:t>
            </a:r>
          </a:p>
          <a:p>
            <a:r>
              <a:rPr lang="en-US" altLang="ko-KR"/>
              <a:t>|lib     | 0.629       |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FACS </a:t>
            </a:r>
            <a:r>
              <a:rPr lang="ko-KR" altLang="en-US"/>
              <a:t>측정</a:t>
            </a:r>
            <a:r>
              <a:rPr lang="en-US" altLang="ko-KR"/>
              <a:t>(0.4 </a:t>
            </a:r>
            <a:r>
              <a:rPr lang="ko-KR" altLang="en-US"/>
              <a:t>맞춘 후</a:t>
            </a:r>
            <a:r>
              <a:rPr lang="en-US" altLang="ko-KR"/>
              <a:t>, M9ace</a:t>
            </a:r>
            <a:r>
              <a:rPr lang="ko-KR" altLang="en-US"/>
              <a:t>에서 배양</a:t>
            </a:r>
            <a:r>
              <a:rPr lang="en-US" altLang="ko-KR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B7C78-E79D-47E2-B0E3-3429FC42BD61}"/>
              </a:ext>
            </a:extLst>
          </p:cNvPr>
          <p:cNvSpPr txBox="1"/>
          <p:nvPr/>
        </p:nvSpPr>
        <p:spPr>
          <a:xfrm>
            <a:off x="634824" y="4796373"/>
            <a:ext cx="4845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m9-acetate </a:t>
            </a:r>
            <a:r>
              <a:rPr lang="ko-KR" altLang="en-US"/>
              <a:t>제작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4g/L acetate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>
                <a:sym typeface="Wingdings" panose="05000000000000000000" pitchFamily="2" charset="2"/>
              </a:rPr>
              <a:t>0.2g/50mL Sodium acetate</a:t>
            </a:r>
          </a:p>
          <a:p>
            <a:r>
              <a:rPr lang="en-US" altLang="ko-KR">
                <a:sym typeface="Wingdings" panose="05000000000000000000" pitchFamily="2" charset="2"/>
              </a:rPr>
              <a:t>5x m9 media 10mL +40mL DW</a:t>
            </a:r>
          </a:p>
          <a:p>
            <a:r>
              <a:rPr lang="en-US" altLang="ko-KR">
                <a:sym typeface="Wingdings" panose="05000000000000000000" pitchFamily="2" charset="2"/>
              </a:rPr>
              <a:t> Filtering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BE0645-E1FE-4B30-8B77-EE2CD93B23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1" t="29333" r="5852" b="11890"/>
          <a:stretch/>
        </p:blipFill>
        <p:spPr>
          <a:xfrm rot="16200000">
            <a:off x="9813011" y="1552931"/>
            <a:ext cx="1407233" cy="14179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515F8A-6E7E-40EA-9E6D-16212507C8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9" t="38111" r="10296" b="4889"/>
          <a:stretch/>
        </p:blipFill>
        <p:spPr>
          <a:xfrm rot="16200000">
            <a:off x="8413819" y="1570643"/>
            <a:ext cx="1403984" cy="13824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ECA63B-6635-4341-BA7A-27D6C973F0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9" t="31148" r="7530" b="11259"/>
          <a:stretch/>
        </p:blipFill>
        <p:spPr>
          <a:xfrm rot="16200000">
            <a:off x="7012108" y="1551518"/>
            <a:ext cx="1413328" cy="14133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68524B-410A-490F-A645-2070844E4A0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t="33445" r="12074" b="8666"/>
          <a:stretch/>
        </p:blipFill>
        <p:spPr>
          <a:xfrm rot="16200000">
            <a:off x="5607489" y="1552244"/>
            <a:ext cx="1406796" cy="14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0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DC3295-011F-4342-8A86-02786B593A04}"/>
              </a:ext>
            </a:extLst>
          </p:cNvPr>
          <p:cNvSpPr txBox="1"/>
          <p:nvPr/>
        </p:nvSpPr>
        <p:spPr>
          <a:xfrm>
            <a:off x="1981200" y="30480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260617</a:t>
            </a:r>
          </a:p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DB5BBB-8FDE-45DE-AB5A-F797826422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1" t="5336" b="6117"/>
          <a:stretch/>
        </p:blipFill>
        <p:spPr>
          <a:xfrm>
            <a:off x="1524000" y="3352801"/>
            <a:ext cx="9067800" cy="25479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C19DDEE-BD5D-48AE-9D4B-77F896692A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8" t="6140" r="1893" b="6587"/>
          <a:stretch/>
        </p:blipFill>
        <p:spPr>
          <a:xfrm>
            <a:off x="1543235" y="609600"/>
            <a:ext cx="907111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2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FAEC8E-2FAD-4A78-B4A3-3913C8DD9D7D}"/>
              </a:ext>
            </a:extLst>
          </p:cNvPr>
          <p:cNvSpPr/>
          <p:nvPr/>
        </p:nvSpPr>
        <p:spPr>
          <a:xfrm>
            <a:off x="381000" y="557659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2607</a:t>
            </a:r>
          </a:p>
          <a:p>
            <a:r>
              <a:rPr lang="en-US" altLang="ko-KR">
                <a:sym typeface="Wingdings" panose="05000000000000000000" pitchFamily="2" charset="2"/>
              </a:rPr>
              <a:t>sample o/n  lb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0.4</a:t>
            </a:r>
            <a:r>
              <a:rPr lang="ko-KR" altLang="en-US">
                <a:sym typeface="Wingdings" panose="05000000000000000000" pitchFamily="2" charset="2"/>
              </a:rPr>
              <a:t>까지 키움 </a:t>
            </a:r>
            <a:r>
              <a:rPr lang="en-US" altLang="ko-KR">
                <a:sym typeface="Wingdings" panose="05000000000000000000" pitchFamily="2" charset="2"/>
              </a:rPr>
              <a:t> m9ace</a:t>
            </a:r>
            <a:r>
              <a:rPr lang="ko-KR" altLang="en-US">
                <a:sym typeface="Wingdings" panose="05000000000000000000" pitchFamily="2" charset="2"/>
              </a:rPr>
              <a:t>로 옮겨서 </a:t>
            </a:r>
            <a:r>
              <a:rPr lang="en-US" altLang="ko-KR">
                <a:sym typeface="Wingdings" panose="05000000000000000000" pitchFamily="2" charset="2"/>
              </a:rPr>
              <a:t>facs</a:t>
            </a:r>
            <a:r>
              <a:rPr lang="ko-KR" altLang="en-US">
                <a:sym typeface="Wingdings" panose="05000000000000000000" pitchFamily="2" charset="2"/>
              </a:rPr>
              <a:t>측정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B7C78-E79D-47E2-B0E3-3429FC42BD61}"/>
              </a:ext>
            </a:extLst>
          </p:cNvPr>
          <p:cNvSpPr txBox="1"/>
          <p:nvPr/>
        </p:nvSpPr>
        <p:spPr>
          <a:xfrm>
            <a:off x="634824" y="4796373"/>
            <a:ext cx="4845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m9-acetate </a:t>
            </a:r>
            <a:r>
              <a:rPr lang="ko-KR" altLang="en-US"/>
              <a:t>제작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4g/L acetate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>
                <a:sym typeface="Wingdings" panose="05000000000000000000" pitchFamily="2" charset="2"/>
              </a:rPr>
              <a:t>0.2g/50mL Sodium acetate</a:t>
            </a:r>
          </a:p>
          <a:p>
            <a:r>
              <a:rPr lang="en-US" altLang="ko-KR">
                <a:sym typeface="Wingdings" panose="05000000000000000000" pitchFamily="2" charset="2"/>
              </a:rPr>
              <a:t>5x m9 media 10mL +40mL DW</a:t>
            </a:r>
          </a:p>
          <a:p>
            <a:r>
              <a:rPr lang="en-US" altLang="ko-KR">
                <a:sym typeface="Wingdings" panose="05000000000000000000" pitchFamily="2" charset="2"/>
              </a:rPr>
              <a:t> Filtering</a:t>
            </a:r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852451-F8A1-4CA0-8145-3D612FB1A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16" t="42517" r="30556" b="31789"/>
          <a:stretch/>
        </p:blipFill>
        <p:spPr>
          <a:xfrm rot="16200000">
            <a:off x="561976" y="1485901"/>
            <a:ext cx="2800351" cy="28194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AE4BCC-09CF-408C-852B-571AB82F09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98" t="31542" r="7934" b="14909"/>
          <a:stretch/>
        </p:blipFill>
        <p:spPr>
          <a:xfrm rot="16200000">
            <a:off x="3366011" y="1489952"/>
            <a:ext cx="2797712" cy="28146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CFB109-5048-4321-9EB1-1FCCB4746B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26" t="21180" r="15047" b="24826"/>
          <a:stretch/>
        </p:blipFill>
        <p:spPr>
          <a:xfrm rot="16200000">
            <a:off x="6152661" y="1485410"/>
            <a:ext cx="2791803" cy="28098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1636F5F-8008-439F-BCC3-0C66C62014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519" t="24479" r="9721" b="21528"/>
          <a:stretch/>
        </p:blipFill>
        <p:spPr>
          <a:xfrm rot="16200000">
            <a:off x="8948477" y="1490923"/>
            <a:ext cx="2790826" cy="279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2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050C81-F925-441C-88F0-BAB51FF698D1}"/>
              </a:ext>
            </a:extLst>
          </p:cNvPr>
          <p:cNvSpPr txBox="1"/>
          <p:nvPr/>
        </p:nvSpPr>
        <p:spPr>
          <a:xfrm>
            <a:off x="268157" y="6985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260709</a:t>
            </a:r>
          </a:p>
          <a:p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2316F6-9D81-4CDD-949E-7E6D81941B42}"/>
              </a:ext>
            </a:extLst>
          </p:cNvPr>
          <p:cNvSpPr txBox="1"/>
          <p:nvPr/>
        </p:nvSpPr>
        <p:spPr>
          <a:xfrm>
            <a:off x="1164683" y="1314634"/>
            <a:ext cx="312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조건</a:t>
            </a:r>
            <a:endParaRPr lang="en-US" altLang="ko-KR" sz="1200" b="1"/>
          </a:p>
          <a:p>
            <a:r>
              <a:rPr lang="en-US" altLang="ko-KR" sz="1200"/>
              <a:t>Strain</a:t>
            </a:r>
            <a:r>
              <a:rPr lang="ko-KR" altLang="en-US" sz="1200"/>
              <a:t> </a:t>
            </a:r>
            <a:r>
              <a:rPr lang="en-US" altLang="ko-KR" sz="1200"/>
              <a:t>and Plasmid : HK41 pSHCE</a:t>
            </a:r>
          </a:p>
          <a:p>
            <a:r>
              <a:rPr lang="en-US" altLang="ko-KR" sz="1200"/>
              <a:t>Target transcription factor : DmpR</a:t>
            </a:r>
          </a:p>
          <a:p>
            <a:r>
              <a:rPr lang="en-US" altLang="ko-KR" sz="1200"/>
              <a:t>Reporter gene : eGFP(genome integration)</a:t>
            </a:r>
          </a:p>
          <a:p>
            <a:r>
              <a:rPr lang="en-US" altLang="ko-KR" sz="1200"/>
              <a:t>Phenol Conc. : 10 </a:t>
            </a:r>
            <a:r>
              <a:rPr lang="el-GR" altLang="ko-KR" sz="1200"/>
              <a:t>μ</a:t>
            </a:r>
            <a:r>
              <a:rPr lang="en-US" altLang="ko-KR" sz="1200"/>
              <a:t>M</a:t>
            </a:r>
          </a:p>
          <a:p>
            <a:r>
              <a:rPr lang="en-US" altLang="ko-KR" sz="1200"/>
              <a:t>Initial OD600 : 0.4</a:t>
            </a:r>
          </a:p>
          <a:p>
            <a:r>
              <a:rPr lang="en-US" altLang="ko-KR" sz="1200" b="1"/>
              <a:t>Growth media : M9-acetate</a:t>
            </a:r>
          </a:p>
          <a:p>
            <a:r>
              <a:rPr lang="ko-KR" altLang="en-US" sz="1200"/>
              <a:t>사용기기 </a:t>
            </a:r>
            <a:r>
              <a:rPr lang="en-US" altLang="ko-KR" sz="1200"/>
              <a:t>: FACSAriaIII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19EAA8A-6312-45EA-A3F1-BFD0BAFD72D6}"/>
              </a:ext>
            </a:extLst>
          </p:cNvPr>
          <p:cNvSpPr/>
          <p:nvPr/>
        </p:nvSpPr>
        <p:spPr>
          <a:xfrm>
            <a:off x="1164683" y="1314633"/>
            <a:ext cx="3136758" cy="15326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2">
            <a:extLst>
              <a:ext uri="{FF2B5EF4-FFF2-40B4-BE49-F238E27FC236}">
                <a16:creationId xmlns:a16="http://schemas.microsoft.com/office/drawing/2014/main" id="{3F506275-D7D5-4CC8-A288-AD9478F85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9908" t="7112" b="50025"/>
          <a:stretch/>
        </p:blipFill>
        <p:spPr bwMode="auto">
          <a:xfrm>
            <a:off x="1447927" y="4249045"/>
            <a:ext cx="1890807" cy="2119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" name="Picture2">
            <a:extLst>
              <a:ext uri="{FF2B5EF4-FFF2-40B4-BE49-F238E27FC236}">
                <a16:creationId xmlns:a16="http://schemas.microsoft.com/office/drawing/2014/main" id="{B5343647-92BB-44A8-A1CA-9F3751C20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51270" t="9709" r="-1" b="50057"/>
          <a:stretch/>
        </p:blipFill>
        <p:spPr bwMode="auto">
          <a:xfrm>
            <a:off x="7007310" y="4371283"/>
            <a:ext cx="1849097" cy="199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Picture2">
            <a:extLst>
              <a:ext uri="{FF2B5EF4-FFF2-40B4-BE49-F238E27FC236}">
                <a16:creationId xmlns:a16="http://schemas.microsoft.com/office/drawing/2014/main" id="{FD6F8AE2-9978-4ED8-B393-A4709EA36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33472" t="9934" r="8822" b="49806"/>
          <a:stretch/>
        </p:blipFill>
        <p:spPr bwMode="auto">
          <a:xfrm>
            <a:off x="5158993" y="4360170"/>
            <a:ext cx="1849045" cy="199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" name="Picture2">
            <a:extLst>
              <a:ext uri="{FF2B5EF4-FFF2-40B4-BE49-F238E27FC236}">
                <a16:creationId xmlns:a16="http://schemas.microsoft.com/office/drawing/2014/main" id="{88E79A5A-F694-4007-80E0-C824A7133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3685" t="11063" r="32205" b="48369"/>
          <a:stretch/>
        </p:blipFill>
        <p:spPr bwMode="auto">
          <a:xfrm>
            <a:off x="3323111" y="4373188"/>
            <a:ext cx="1861749" cy="2000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" name="Picture2">
            <a:extLst>
              <a:ext uri="{FF2B5EF4-FFF2-40B4-BE49-F238E27FC236}">
                <a16:creationId xmlns:a16="http://schemas.microsoft.com/office/drawing/2014/main" id="{58FBFF9F-979B-42C2-BADF-85E0510346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0988" t="7112" r="49598" b="51681"/>
          <a:stretch/>
        </p:blipFill>
        <p:spPr bwMode="auto">
          <a:xfrm>
            <a:off x="8848015" y="4342047"/>
            <a:ext cx="1857376" cy="2036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B35156A-F9A5-42D1-A546-3635AC661503}"/>
              </a:ext>
            </a:extLst>
          </p:cNvPr>
          <p:cNvSpPr txBox="1"/>
          <p:nvPr/>
        </p:nvSpPr>
        <p:spPr>
          <a:xfrm>
            <a:off x="1062915" y="4538605"/>
            <a:ext cx="629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5h</a:t>
            </a:r>
          </a:p>
          <a:p>
            <a:r>
              <a:rPr lang="en-US" altLang="ko-KR"/>
              <a:t>4h</a:t>
            </a:r>
          </a:p>
          <a:p>
            <a:r>
              <a:rPr lang="en-US" altLang="ko-KR"/>
              <a:t>3h</a:t>
            </a:r>
          </a:p>
          <a:p>
            <a:r>
              <a:rPr lang="en-US" altLang="ko-KR"/>
              <a:t>2h</a:t>
            </a:r>
          </a:p>
          <a:p>
            <a:r>
              <a:rPr lang="en-US" altLang="ko-KR"/>
              <a:t>1h</a:t>
            </a:r>
          </a:p>
          <a:p>
            <a:r>
              <a:rPr lang="en-US" altLang="ko-KR"/>
              <a:t>0h</a:t>
            </a:r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CFEDD6-31DD-4E94-A85E-429CC6118B26}"/>
              </a:ext>
            </a:extLst>
          </p:cNvPr>
          <p:cNvSpPr txBox="1"/>
          <p:nvPr/>
        </p:nvSpPr>
        <p:spPr>
          <a:xfrm>
            <a:off x="5438860" y="6354705"/>
            <a:ext cx="8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FITC-A</a:t>
            </a:r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8BA699-44B7-4159-AAC8-5B0E40D5F133}"/>
              </a:ext>
            </a:extLst>
          </p:cNvPr>
          <p:cNvSpPr txBox="1"/>
          <p:nvPr/>
        </p:nvSpPr>
        <p:spPr>
          <a:xfrm>
            <a:off x="2721060" y="4335405"/>
            <a:ext cx="895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Library</a:t>
            </a:r>
            <a:endParaRPr lang="ko-KR" altLang="en-US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6C7774-49A5-4A4F-A599-19B4BF5BF382}"/>
              </a:ext>
            </a:extLst>
          </p:cNvPr>
          <p:cNvSpPr txBox="1"/>
          <p:nvPr/>
        </p:nvSpPr>
        <p:spPr>
          <a:xfrm>
            <a:off x="4524460" y="4341755"/>
            <a:ext cx="742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Positive Control</a:t>
            </a:r>
            <a:endParaRPr lang="ko-KR" altLang="en-US"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410522-C54D-42ED-9B38-FBD973E95216}"/>
              </a:ext>
            </a:extLst>
          </p:cNvPr>
          <p:cNvSpPr txBox="1"/>
          <p:nvPr/>
        </p:nvSpPr>
        <p:spPr>
          <a:xfrm>
            <a:off x="6258010" y="4339949"/>
            <a:ext cx="116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Negative Control</a:t>
            </a:r>
            <a:endParaRPr lang="ko-KR" alt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7976D7-11FB-4CFD-9176-0C6CD6BEB8B4}"/>
              </a:ext>
            </a:extLst>
          </p:cNvPr>
          <p:cNvSpPr txBox="1"/>
          <p:nvPr/>
        </p:nvSpPr>
        <p:spPr>
          <a:xfrm>
            <a:off x="8277310" y="4354455"/>
            <a:ext cx="62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</a:t>
            </a:r>
          </a:p>
          <a:p>
            <a:r>
              <a:rPr lang="en-US" altLang="ko-KR" sz="1200"/>
              <a:t>M52I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9F6973-9362-4D55-9565-2719E2D9A53D}"/>
              </a:ext>
            </a:extLst>
          </p:cNvPr>
          <p:cNvSpPr txBox="1"/>
          <p:nvPr/>
        </p:nvSpPr>
        <p:spPr>
          <a:xfrm>
            <a:off x="10099760" y="4327249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</a:t>
            </a:r>
          </a:p>
          <a:p>
            <a:r>
              <a:rPr lang="en-US" altLang="ko-KR" sz="1200"/>
              <a:t>E135K</a:t>
            </a:r>
            <a:endParaRPr lang="ko-KR" altLang="en-US" sz="1200"/>
          </a:p>
        </p:txBody>
      </p:sp>
      <p:pic>
        <p:nvPicPr>
          <p:cNvPr id="61" name="Picture2">
            <a:extLst>
              <a:ext uri="{FF2B5EF4-FFF2-40B4-BE49-F238E27FC236}">
                <a16:creationId xmlns:a16="http://schemas.microsoft.com/office/drawing/2014/main" id="{6ADD72F4-08F1-4183-8560-0BAAD0B28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61348" t="7902" b="51522"/>
          <a:stretch/>
        </p:blipFill>
        <p:spPr bwMode="auto">
          <a:xfrm>
            <a:off x="7385444" y="719753"/>
            <a:ext cx="1790426" cy="192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46A2BD7-878F-4112-9EE9-2B508AD7B92E}"/>
              </a:ext>
            </a:extLst>
          </p:cNvPr>
          <p:cNvSpPr txBox="1"/>
          <p:nvPr/>
        </p:nvSpPr>
        <p:spPr>
          <a:xfrm rot="16200000">
            <a:off x="6766846" y="1432080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Count</a:t>
            </a:r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D5F92A-5DBE-4848-8898-DD6FDA9816CF}"/>
              </a:ext>
            </a:extLst>
          </p:cNvPr>
          <p:cNvSpPr txBox="1"/>
          <p:nvPr/>
        </p:nvSpPr>
        <p:spPr>
          <a:xfrm>
            <a:off x="7803412" y="2656517"/>
            <a:ext cx="8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FITC-A</a:t>
            </a:r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879BFA-CC08-4A38-8E45-019397BB8397}"/>
              </a:ext>
            </a:extLst>
          </p:cNvPr>
          <p:cNvSpPr txBox="1"/>
          <p:nvPr/>
        </p:nvSpPr>
        <p:spPr>
          <a:xfrm>
            <a:off x="8678688" y="769918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1h</a:t>
            </a:r>
            <a:endParaRPr lang="ko-KR" altLang="en-US"/>
          </a:p>
        </p:txBody>
      </p:sp>
      <p:pic>
        <p:nvPicPr>
          <p:cNvPr id="65" name="Picture2">
            <a:extLst>
              <a:ext uri="{FF2B5EF4-FFF2-40B4-BE49-F238E27FC236}">
                <a16:creationId xmlns:a16="http://schemas.microsoft.com/office/drawing/2014/main" id="{8C65BD8A-C52B-4D8C-B1A9-6256008F2F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2570" t="60705" r="79831" b="34709"/>
          <a:stretch/>
        </p:blipFill>
        <p:spPr bwMode="auto">
          <a:xfrm>
            <a:off x="6670414" y="3186411"/>
            <a:ext cx="550068" cy="34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EF9785E-E27F-4530-9C18-D2B19593E6F5}"/>
              </a:ext>
            </a:extLst>
          </p:cNvPr>
          <p:cNvSpPr txBox="1"/>
          <p:nvPr/>
        </p:nvSpPr>
        <p:spPr>
          <a:xfrm>
            <a:off x="7300649" y="3111798"/>
            <a:ext cx="2674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 Mutant Library w/o phenol</a:t>
            </a:r>
          </a:p>
          <a:p>
            <a:r>
              <a:rPr lang="en-US" altLang="ko-KR" sz="1200"/>
              <a:t>DmpR Mutant Library w/ phenol</a:t>
            </a:r>
            <a:endParaRPr lang="ko-KR" altLang="en-US" sz="12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E4AA2B-7A8D-4841-B76A-C27971B60A12}"/>
              </a:ext>
            </a:extLst>
          </p:cNvPr>
          <p:cNvCxnSpPr>
            <a:cxnSpLocks/>
          </p:cNvCxnSpPr>
          <p:nvPr/>
        </p:nvCxnSpPr>
        <p:spPr>
          <a:xfrm flipH="1">
            <a:off x="8046721" y="771525"/>
            <a:ext cx="16192" cy="165900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5E4C043-A421-407A-8393-4E4C3DB33B1F}"/>
              </a:ext>
            </a:extLst>
          </p:cNvPr>
          <p:cNvSpPr txBox="1"/>
          <p:nvPr/>
        </p:nvSpPr>
        <p:spPr>
          <a:xfrm>
            <a:off x="8081699" y="335260"/>
            <a:ext cx="514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Gate</a:t>
            </a:r>
            <a:endParaRPr lang="ko-KR" altLang="en-US" sz="120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40E73FE-4B9D-453A-A8AE-EB13756E128C}"/>
              </a:ext>
            </a:extLst>
          </p:cNvPr>
          <p:cNvCxnSpPr/>
          <p:nvPr/>
        </p:nvCxnSpPr>
        <p:spPr>
          <a:xfrm flipH="1">
            <a:off x="8081963" y="576263"/>
            <a:ext cx="166688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65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050C81-F925-441C-88F0-BAB51FF698D1}"/>
              </a:ext>
            </a:extLst>
          </p:cNvPr>
          <p:cNvSpPr txBox="1"/>
          <p:nvPr/>
        </p:nvSpPr>
        <p:spPr>
          <a:xfrm>
            <a:off x="0" y="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260709</a:t>
            </a:r>
          </a:p>
          <a:p>
            <a:endParaRPr lang="ko-KR" altLang="en-US"/>
          </a:p>
        </p:txBody>
      </p:sp>
      <p:pic>
        <p:nvPicPr>
          <p:cNvPr id="18" name="Picture2">
            <a:extLst>
              <a:ext uri="{FF2B5EF4-FFF2-40B4-BE49-F238E27FC236}">
                <a16:creationId xmlns:a16="http://schemas.microsoft.com/office/drawing/2014/main" id="{39008CA9-F9D1-4C73-8BB4-5827290B9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60170" t="8729" r="1" b="50450"/>
          <a:stretch/>
        </p:blipFill>
        <p:spPr bwMode="auto">
          <a:xfrm>
            <a:off x="2324100" y="769821"/>
            <a:ext cx="1339850" cy="1470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2">
            <a:extLst>
              <a:ext uri="{FF2B5EF4-FFF2-40B4-BE49-F238E27FC236}">
                <a16:creationId xmlns:a16="http://schemas.microsoft.com/office/drawing/2014/main" id="{EA55AD1A-BC44-4075-B05D-21C1D6FF4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50518" t="8654" b="50672"/>
          <a:stretch/>
        </p:blipFill>
        <p:spPr bwMode="auto">
          <a:xfrm>
            <a:off x="3651250" y="772160"/>
            <a:ext cx="1357128" cy="1469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2">
            <a:extLst>
              <a:ext uri="{FF2B5EF4-FFF2-40B4-BE49-F238E27FC236}">
                <a16:creationId xmlns:a16="http://schemas.microsoft.com/office/drawing/2014/main" id="{5B76288A-F1F6-4A9C-9A42-F6B5586A1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33825" t="7808" r="7311" b="51338"/>
          <a:stretch/>
        </p:blipFill>
        <p:spPr bwMode="auto">
          <a:xfrm>
            <a:off x="4998609" y="756920"/>
            <a:ext cx="1379331" cy="147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2">
            <a:extLst>
              <a:ext uri="{FF2B5EF4-FFF2-40B4-BE49-F238E27FC236}">
                <a16:creationId xmlns:a16="http://schemas.microsoft.com/office/drawing/2014/main" id="{B10BED2C-3412-48D3-917A-A7CE8EA03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284" t="6297" r="49630" b="52415"/>
          <a:stretch/>
        </p:blipFill>
        <p:spPr bwMode="auto">
          <a:xfrm>
            <a:off x="6353810" y="762000"/>
            <a:ext cx="1371600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2">
            <a:extLst>
              <a:ext uri="{FF2B5EF4-FFF2-40B4-BE49-F238E27FC236}">
                <a16:creationId xmlns:a16="http://schemas.microsoft.com/office/drawing/2014/main" id="{3EFCAEFC-DF2C-44E0-A342-B5B56B003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60169" t="7487" b="52625"/>
          <a:stretch/>
        </p:blipFill>
        <p:spPr bwMode="auto">
          <a:xfrm>
            <a:off x="7702550" y="788035"/>
            <a:ext cx="136287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2">
            <a:extLst>
              <a:ext uri="{FF2B5EF4-FFF2-40B4-BE49-F238E27FC236}">
                <a16:creationId xmlns:a16="http://schemas.microsoft.com/office/drawing/2014/main" id="{D8D367ED-B08A-47D8-9098-46A0E0837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9822" t="8729" r="49194" b="50451"/>
          <a:stretch/>
        </p:blipFill>
        <p:spPr bwMode="auto">
          <a:xfrm>
            <a:off x="952500" y="762334"/>
            <a:ext cx="1375093" cy="1466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CAE7DC-BA16-456A-B6AE-B584DD975741}"/>
              </a:ext>
            </a:extLst>
          </p:cNvPr>
          <p:cNvSpPr txBox="1"/>
          <p:nvPr/>
        </p:nvSpPr>
        <p:spPr>
          <a:xfrm>
            <a:off x="4578350" y="2273300"/>
            <a:ext cx="8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FITC-A</a:t>
            </a:r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6F4DED-9E6E-4593-8BD5-3047CEA38B6C}"/>
              </a:ext>
            </a:extLst>
          </p:cNvPr>
          <p:cNvSpPr txBox="1"/>
          <p:nvPr/>
        </p:nvSpPr>
        <p:spPr>
          <a:xfrm rot="16200000">
            <a:off x="393700" y="1212850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Count</a:t>
            </a: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5140CD-6BC4-4C54-9CFD-F0E875D25944}"/>
              </a:ext>
            </a:extLst>
          </p:cNvPr>
          <p:cNvSpPr txBox="1"/>
          <p:nvPr/>
        </p:nvSpPr>
        <p:spPr>
          <a:xfrm>
            <a:off x="1835150" y="7874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0h</a:t>
            </a:r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FFBB53-B5F8-4C50-AC3D-A2F5D9BFC853}"/>
              </a:ext>
            </a:extLst>
          </p:cNvPr>
          <p:cNvSpPr txBox="1"/>
          <p:nvPr/>
        </p:nvSpPr>
        <p:spPr>
          <a:xfrm>
            <a:off x="3181350" y="7874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1h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6AE48D-6CA0-440A-A5F0-95ED4D53CED2}"/>
              </a:ext>
            </a:extLst>
          </p:cNvPr>
          <p:cNvSpPr txBox="1"/>
          <p:nvPr/>
        </p:nvSpPr>
        <p:spPr>
          <a:xfrm>
            <a:off x="4527550" y="8001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2h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F17DB8-90C3-4749-8271-DF24ADD1845C}"/>
              </a:ext>
            </a:extLst>
          </p:cNvPr>
          <p:cNvSpPr txBox="1"/>
          <p:nvPr/>
        </p:nvSpPr>
        <p:spPr>
          <a:xfrm>
            <a:off x="5873750" y="8001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3h</a:t>
            </a:r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45C191-3972-4379-B0C2-4C0A1772ACE7}"/>
              </a:ext>
            </a:extLst>
          </p:cNvPr>
          <p:cNvSpPr txBox="1"/>
          <p:nvPr/>
        </p:nvSpPr>
        <p:spPr>
          <a:xfrm>
            <a:off x="7232650" y="7874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4h</a:t>
            </a:r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7CA011-769A-43A4-B860-BA88D627B077}"/>
              </a:ext>
            </a:extLst>
          </p:cNvPr>
          <p:cNvSpPr txBox="1"/>
          <p:nvPr/>
        </p:nvSpPr>
        <p:spPr>
          <a:xfrm>
            <a:off x="8578850" y="78740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5h</a:t>
            </a:r>
            <a:endParaRPr lang="ko-KR" altLang="en-US"/>
          </a:p>
        </p:txBody>
      </p:sp>
      <p:pic>
        <p:nvPicPr>
          <p:cNvPr id="48" name="Picture2">
            <a:extLst>
              <a:ext uri="{FF2B5EF4-FFF2-40B4-BE49-F238E27FC236}">
                <a16:creationId xmlns:a16="http://schemas.microsoft.com/office/drawing/2014/main" id="{818F4404-0A92-40F3-8228-30D51C8B1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1904" t="61419" r="79885" b="29581"/>
          <a:stretch/>
        </p:blipFill>
        <p:spPr bwMode="auto">
          <a:xfrm>
            <a:off x="9309102" y="1073149"/>
            <a:ext cx="694530" cy="814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F948056-16DE-4454-985A-EDF02C022D4A}"/>
              </a:ext>
            </a:extLst>
          </p:cNvPr>
          <p:cNvSpPr txBox="1"/>
          <p:nvPr/>
        </p:nvSpPr>
        <p:spPr>
          <a:xfrm>
            <a:off x="9950450" y="1028700"/>
            <a:ext cx="193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Positive Control</a:t>
            </a:r>
            <a:endParaRPr lang="ko-KR" altLang="en-US" sz="12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AA2359-EDC6-4072-ACB5-8385ED277F05}"/>
              </a:ext>
            </a:extLst>
          </p:cNvPr>
          <p:cNvSpPr txBox="1"/>
          <p:nvPr/>
        </p:nvSpPr>
        <p:spPr>
          <a:xfrm>
            <a:off x="9949657" y="1219200"/>
            <a:ext cx="193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Negative Control</a:t>
            </a:r>
            <a:endParaRPr lang="ko-KR" altLang="en-US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52D5A6-A7BD-4E80-929B-683FFCB63E76}"/>
              </a:ext>
            </a:extLst>
          </p:cNvPr>
          <p:cNvSpPr txBox="1"/>
          <p:nvPr/>
        </p:nvSpPr>
        <p:spPr>
          <a:xfrm>
            <a:off x="9950450" y="1435100"/>
            <a:ext cx="193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 M52I</a:t>
            </a:r>
            <a:endParaRPr lang="ko-KR" altLang="en-US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BAD91E-42B0-4A6B-98FC-98F572862FBF}"/>
              </a:ext>
            </a:extLst>
          </p:cNvPr>
          <p:cNvSpPr txBox="1"/>
          <p:nvPr/>
        </p:nvSpPr>
        <p:spPr>
          <a:xfrm>
            <a:off x="9949655" y="1631950"/>
            <a:ext cx="193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 Mutant Library</a:t>
            </a:r>
            <a:endParaRPr lang="ko-KR" altLang="en-US" sz="1200"/>
          </a:p>
        </p:txBody>
      </p:sp>
      <p:pic>
        <p:nvPicPr>
          <p:cNvPr id="62" name="Picture2">
            <a:extLst>
              <a:ext uri="{FF2B5EF4-FFF2-40B4-BE49-F238E27FC236}">
                <a16:creationId xmlns:a16="http://schemas.microsoft.com/office/drawing/2014/main" id="{19CA3EBB-9158-47C6-8B5F-8FAA10569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2642" t="8455" r="49494" b="51408"/>
          <a:stretch/>
        </p:blipFill>
        <p:spPr bwMode="auto">
          <a:xfrm>
            <a:off x="954412" y="3686840"/>
            <a:ext cx="1753667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" name="Picture2">
            <a:extLst>
              <a:ext uri="{FF2B5EF4-FFF2-40B4-BE49-F238E27FC236}">
                <a16:creationId xmlns:a16="http://schemas.microsoft.com/office/drawing/2014/main" id="{DBF74F2D-8F64-499D-8051-4CE25FE59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34416" t="5192" r="7078" b="54243"/>
          <a:stretch/>
        </p:blipFill>
        <p:spPr bwMode="auto">
          <a:xfrm>
            <a:off x="8003121" y="3662363"/>
            <a:ext cx="1806042" cy="1933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" name="Picture2">
            <a:extLst>
              <a:ext uri="{FF2B5EF4-FFF2-40B4-BE49-F238E27FC236}">
                <a16:creationId xmlns:a16="http://schemas.microsoft.com/office/drawing/2014/main" id="{2BE121EA-8473-4674-9E96-969A02D1E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l="15162" t="6322" r="27879" b="53470"/>
          <a:stretch/>
        </p:blipFill>
        <p:spPr bwMode="auto">
          <a:xfrm>
            <a:off x="9792552" y="3676680"/>
            <a:ext cx="1786446" cy="1913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2">
            <a:extLst>
              <a:ext uri="{FF2B5EF4-FFF2-40B4-BE49-F238E27FC236}">
                <a16:creationId xmlns:a16="http://schemas.microsoft.com/office/drawing/2014/main" id="{577144B7-92E3-493C-AB73-EF6030D1BB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61348" t="7902" b="51522"/>
          <a:stretch/>
        </p:blipFill>
        <p:spPr bwMode="auto">
          <a:xfrm>
            <a:off x="2707256" y="3663345"/>
            <a:ext cx="1790426" cy="192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2">
            <a:extLst>
              <a:ext uri="{FF2B5EF4-FFF2-40B4-BE49-F238E27FC236}">
                <a16:creationId xmlns:a16="http://schemas.microsoft.com/office/drawing/2014/main" id="{849E7E90-D55E-498A-B81A-42C7A011D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l="48165" t="5419" b="54371"/>
          <a:stretch/>
        </p:blipFill>
        <p:spPr bwMode="auto">
          <a:xfrm>
            <a:off x="6232579" y="3671772"/>
            <a:ext cx="1795880" cy="1921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" name="Picture2">
            <a:extLst>
              <a:ext uri="{FF2B5EF4-FFF2-40B4-BE49-F238E27FC236}">
                <a16:creationId xmlns:a16="http://schemas.microsoft.com/office/drawing/2014/main" id="{8D10D814-C261-4391-9A04-3E61ACA19C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57833" t="5420" r="67" b="54096"/>
          <a:stretch/>
        </p:blipFill>
        <p:spPr bwMode="auto">
          <a:xfrm>
            <a:off x="4482490" y="3666184"/>
            <a:ext cx="1780955" cy="193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14291E2-2C5B-4D8D-AAEF-CB0EB8296313}"/>
              </a:ext>
            </a:extLst>
          </p:cNvPr>
          <p:cNvSpPr txBox="1"/>
          <p:nvPr/>
        </p:nvSpPr>
        <p:spPr>
          <a:xfrm rot="16200000">
            <a:off x="336550" y="4481860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Count</a:t>
            </a:r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269B8B-719D-46CF-BE61-6C24502CE1CF}"/>
              </a:ext>
            </a:extLst>
          </p:cNvPr>
          <p:cNvSpPr txBox="1"/>
          <p:nvPr/>
        </p:nvSpPr>
        <p:spPr>
          <a:xfrm>
            <a:off x="5815330" y="5600109"/>
            <a:ext cx="8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FITC-A</a:t>
            </a:r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5C9A07-CCC9-4AEB-B4B3-BB7370BD2C30}"/>
              </a:ext>
            </a:extLst>
          </p:cNvPr>
          <p:cNvSpPr txBox="1"/>
          <p:nvPr/>
        </p:nvSpPr>
        <p:spPr>
          <a:xfrm>
            <a:off x="2227580" y="371351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0h</a:t>
            </a:r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5FC271-846F-4984-80E3-2A44648CF62B}"/>
              </a:ext>
            </a:extLst>
          </p:cNvPr>
          <p:cNvSpPr txBox="1"/>
          <p:nvPr/>
        </p:nvSpPr>
        <p:spPr>
          <a:xfrm>
            <a:off x="4000500" y="371351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1h</a:t>
            </a:r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6C3C72-814B-4201-8B72-8D14C38D9889}"/>
              </a:ext>
            </a:extLst>
          </p:cNvPr>
          <p:cNvSpPr txBox="1"/>
          <p:nvPr/>
        </p:nvSpPr>
        <p:spPr>
          <a:xfrm>
            <a:off x="5773420" y="369573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2h</a:t>
            </a:r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DF7072-00A0-4FF8-9B76-BFE8229585BD}"/>
              </a:ext>
            </a:extLst>
          </p:cNvPr>
          <p:cNvSpPr txBox="1"/>
          <p:nvPr/>
        </p:nvSpPr>
        <p:spPr>
          <a:xfrm>
            <a:off x="7538720" y="369573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3h</a:t>
            </a:r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A65DB-0698-452C-9A29-36FCC0D94C8C}"/>
              </a:ext>
            </a:extLst>
          </p:cNvPr>
          <p:cNvSpPr txBox="1"/>
          <p:nvPr/>
        </p:nvSpPr>
        <p:spPr>
          <a:xfrm>
            <a:off x="9324340" y="369827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4h</a:t>
            </a:r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7DED3A-9ED6-48A2-816E-B233D4575833}"/>
              </a:ext>
            </a:extLst>
          </p:cNvPr>
          <p:cNvSpPr txBox="1"/>
          <p:nvPr/>
        </p:nvSpPr>
        <p:spPr>
          <a:xfrm>
            <a:off x="11089640" y="3705890"/>
            <a:ext cx="45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5h</a:t>
            </a:r>
            <a:endParaRPr lang="ko-KR" altLang="en-US"/>
          </a:p>
        </p:txBody>
      </p:sp>
      <p:pic>
        <p:nvPicPr>
          <p:cNvPr id="76" name="Picture2">
            <a:extLst>
              <a:ext uri="{FF2B5EF4-FFF2-40B4-BE49-F238E27FC236}">
                <a16:creationId xmlns:a16="http://schemas.microsoft.com/office/drawing/2014/main" id="{831C6628-C23A-4725-84BE-3C4073B88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2570" t="60705" r="79831" b="34709"/>
          <a:stretch/>
        </p:blipFill>
        <p:spPr bwMode="auto">
          <a:xfrm>
            <a:off x="4682332" y="6130003"/>
            <a:ext cx="550068" cy="34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09F4FF0-D10C-465C-9F8E-F9D2DC961E73}"/>
              </a:ext>
            </a:extLst>
          </p:cNvPr>
          <p:cNvSpPr txBox="1"/>
          <p:nvPr/>
        </p:nvSpPr>
        <p:spPr>
          <a:xfrm>
            <a:off x="5193504" y="6055390"/>
            <a:ext cx="2674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DmpR Mutant Library w/o phenol</a:t>
            </a:r>
          </a:p>
          <a:p>
            <a:r>
              <a:rPr lang="en-US" altLang="ko-KR" sz="1200"/>
              <a:t>DmpR Mutant Library w/ phenol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2334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050C81-F925-441C-88F0-BAB51FF698D1}"/>
              </a:ext>
            </a:extLst>
          </p:cNvPr>
          <p:cNvSpPr txBox="1"/>
          <p:nvPr/>
        </p:nvSpPr>
        <p:spPr>
          <a:xfrm>
            <a:off x="0" y="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260709</a:t>
            </a:r>
          </a:p>
          <a:p>
            <a:endParaRPr lang="ko-KR" altLang="en-US"/>
          </a:p>
        </p:txBody>
      </p:sp>
      <p:pic>
        <p:nvPicPr>
          <p:cNvPr id="18" name="Picture2">
            <a:extLst>
              <a:ext uri="{FF2B5EF4-FFF2-40B4-BE49-F238E27FC236}">
                <a16:creationId xmlns:a16="http://schemas.microsoft.com/office/drawing/2014/main" id="{39008CA9-F9D1-4C73-8BB4-5827290B9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2727" t="8730" r="1" b="29441"/>
          <a:stretch/>
        </p:blipFill>
        <p:spPr bwMode="auto">
          <a:xfrm>
            <a:off x="1333500" y="411480"/>
            <a:ext cx="1500213" cy="210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2">
            <a:extLst>
              <a:ext uri="{FF2B5EF4-FFF2-40B4-BE49-F238E27FC236}">
                <a16:creationId xmlns:a16="http://schemas.microsoft.com/office/drawing/2014/main" id="{EA55AD1A-BC44-4075-B05D-21C1D6FF4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50518" t="8655" b="30570"/>
          <a:stretch/>
        </p:blipFill>
        <p:spPr bwMode="auto">
          <a:xfrm>
            <a:off x="2834640" y="405130"/>
            <a:ext cx="1315099" cy="212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2">
            <a:extLst>
              <a:ext uri="{FF2B5EF4-FFF2-40B4-BE49-F238E27FC236}">
                <a16:creationId xmlns:a16="http://schemas.microsoft.com/office/drawing/2014/main" id="{5B76288A-F1F6-4A9C-9A42-F6B5586A1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33825" t="7808" r="7311" b="31322"/>
          <a:stretch/>
        </p:blipFill>
        <p:spPr bwMode="auto">
          <a:xfrm>
            <a:off x="4152900" y="382490"/>
            <a:ext cx="1342390" cy="2143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2">
            <a:extLst>
              <a:ext uri="{FF2B5EF4-FFF2-40B4-BE49-F238E27FC236}">
                <a16:creationId xmlns:a16="http://schemas.microsoft.com/office/drawing/2014/main" id="{B10BED2C-3412-48D3-917A-A7CE8EA03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2935" t="6297" r="49630" b="32645"/>
          <a:stretch/>
        </p:blipFill>
        <p:spPr bwMode="auto">
          <a:xfrm>
            <a:off x="5570220" y="375920"/>
            <a:ext cx="162306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2">
            <a:extLst>
              <a:ext uri="{FF2B5EF4-FFF2-40B4-BE49-F238E27FC236}">
                <a16:creationId xmlns:a16="http://schemas.microsoft.com/office/drawing/2014/main" id="{DFC08F09-385E-4013-B560-6213A1B31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59908" t="7112" b="26054"/>
          <a:stretch/>
        </p:blipFill>
        <p:spPr bwMode="auto">
          <a:xfrm>
            <a:off x="4541520" y="2667000"/>
            <a:ext cx="111149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2">
            <a:extLst>
              <a:ext uri="{FF2B5EF4-FFF2-40B4-BE49-F238E27FC236}">
                <a16:creationId xmlns:a16="http://schemas.microsoft.com/office/drawing/2014/main" id="{73562010-4E84-46F9-A236-D0304C443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50226" t="9709" b="25603"/>
          <a:stretch/>
        </p:blipFill>
        <p:spPr bwMode="auto">
          <a:xfrm>
            <a:off x="2350886" y="2773680"/>
            <a:ext cx="1069964" cy="1814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2">
            <a:extLst>
              <a:ext uri="{FF2B5EF4-FFF2-40B4-BE49-F238E27FC236}">
                <a16:creationId xmlns:a16="http://schemas.microsoft.com/office/drawing/2014/main" id="{23F653D6-68E5-4252-A4A9-E093B9AA4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l="33472" t="9934" r="6904" b="24135"/>
          <a:stretch/>
        </p:blipFill>
        <p:spPr bwMode="auto">
          <a:xfrm>
            <a:off x="1288276" y="2766060"/>
            <a:ext cx="1062050" cy="1813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2">
            <a:extLst>
              <a:ext uri="{FF2B5EF4-FFF2-40B4-BE49-F238E27FC236}">
                <a16:creationId xmlns:a16="http://schemas.microsoft.com/office/drawing/2014/main" id="{54402AA4-27EB-4565-A893-86FE162725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l="7766" t="11063" r="31232" b="25151"/>
          <a:stretch/>
        </p:blipFill>
        <p:spPr bwMode="auto">
          <a:xfrm>
            <a:off x="109458" y="2796540"/>
            <a:ext cx="1194857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2">
            <a:extLst>
              <a:ext uri="{FF2B5EF4-FFF2-40B4-BE49-F238E27FC236}">
                <a16:creationId xmlns:a16="http://schemas.microsoft.com/office/drawing/2014/main" id="{041EA9C7-EEF0-4999-8FD9-DACCC5B93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5446" t="7902" b="34183"/>
          <a:stretch/>
        </p:blipFill>
        <p:spPr bwMode="auto">
          <a:xfrm>
            <a:off x="926238" y="4594860"/>
            <a:ext cx="3599582" cy="226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2">
            <a:extLst>
              <a:ext uri="{FF2B5EF4-FFF2-40B4-BE49-F238E27FC236}">
                <a16:creationId xmlns:a16="http://schemas.microsoft.com/office/drawing/2014/main" id="{827C004C-29D7-46F6-BD9C-D9F76460B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/>
          <a:srcRect l="50283" t="5419" r="68" b="38811"/>
          <a:stretch/>
        </p:blipFill>
        <p:spPr bwMode="auto">
          <a:xfrm>
            <a:off x="4620526" y="4564380"/>
            <a:ext cx="1810753" cy="2293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Picture2">
            <a:extLst>
              <a:ext uri="{FF2B5EF4-FFF2-40B4-BE49-F238E27FC236}">
                <a16:creationId xmlns:a16="http://schemas.microsoft.com/office/drawing/2014/main" id="{26F0164F-5747-48A6-97AC-C46D89091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/>
          <a:srcRect l="39089" t="5419" b="38698"/>
          <a:stretch/>
        </p:blipFill>
        <p:spPr bwMode="auto">
          <a:xfrm>
            <a:off x="6499860" y="4571218"/>
            <a:ext cx="1806920" cy="228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2">
            <a:extLst>
              <a:ext uri="{FF2B5EF4-FFF2-40B4-BE49-F238E27FC236}">
                <a16:creationId xmlns:a16="http://schemas.microsoft.com/office/drawing/2014/main" id="{741FDA96-52B9-4AA1-B540-DD7347AF1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/>
          <a:srcRect l="24407" t="5193" r="7078" b="39940"/>
          <a:stretch/>
        </p:blipFill>
        <p:spPr bwMode="auto">
          <a:xfrm>
            <a:off x="8359140" y="4568160"/>
            <a:ext cx="1851660" cy="2289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" name="Picture2">
            <a:extLst>
              <a:ext uri="{FF2B5EF4-FFF2-40B4-BE49-F238E27FC236}">
                <a16:creationId xmlns:a16="http://schemas.microsoft.com/office/drawing/2014/main" id="{723F9A57-582B-46F1-94A4-2161EC9A2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/>
          <a:srcRect l="4968" t="6322" r="27880" b="38924"/>
          <a:stretch/>
        </p:blipFill>
        <p:spPr bwMode="auto">
          <a:xfrm>
            <a:off x="10356664" y="4587240"/>
            <a:ext cx="1835336" cy="227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2">
            <a:extLst>
              <a:ext uri="{FF2B5EF4-FFF2-40B4-BE49-F238E27FC236}">
                <a16:creationId xmlns:a16="http://schemas.microsoft.com/office/drawing/2014/main" id="{40268B00-B9B5-4A49-BAE5-B0A3FB5D0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0301" t="7112" r="48380" b="26054"/>
          <a:stretch/>
        </p:blipFill>
        <p:spPr bwMode="auto">
          <a:xfrm>
            <a:off x="3413760" y="2750820"/>
            <a:ext cx="1087111" cy="1844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2">
            <a:extLst>
              <a:ext uri="{FF2B5EF4-FFF2-40B4-BE49-F238E27FC236}">
                <a16:creationId xmlns:a16="http://schemas.microsoft.com/office/drawing/2014/main" id="{3EFCAEFC-DF2C-44E0-A342-B5B56B003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52597" t="6297" b="32645"/>
          <a:stretch/>
        </p:blipFill>
        <p:spPr bwMode="auto">
          <a:xfrm>
            <a:off x="7292340" y="459740"/>
            <a:ext cx="162195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2">
            <a:extLst>
              <a:ext uri="{FF2B5EF4-FFF2-40B4-BE49-F238E27FC236}">
                <a16:creationId xmlns:a16="http://schemas.microsoft.com/office/drawing/2014/main" id="{D8D367ED-B08A-47D8-9098-46A0E0837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3425" t="8730" r="49194" b="29441"/>
          <a:stretch/>
        </p:blipFill>
        <p:spPr bwMode="auto">
          <a:xfrm>
            <a:off x="66041" y="396240"/>
            <a:ext cx="1503680" cy="210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1086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7DF979-CF2C-44A9-A631-F51DBE2CF1EB}"/>
              </a:ext>
            </a:extLst>
          </p:cNvPr>
          <p:cNvSpPr txBox="1"/>
          <p:nvPr/>
        </p:nvSpPr>
        <p:spPr>
          <a:xfrm>
            <a:off x="0" y="-587791"/>
            <a:ext cx="315308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ML </a:t>
            </a:r>
            <a:r>
              <a:rPr lang="ko-KR" altLang="en-US"/>
              <a:t>제작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260604</a:t>
            </a:r>
          </a:p>
          <a:p>
            <a:r>
              <a:rPr lang="en-US" altLang="ko-KR"/>
              <a:t>- sample#1~#6</a:t>
            </a:r>
          </a:p>
          <a:p>
            <a:r>
              <a:rPr lang="en-US" altLang="ko-KR"/>
              <a:t>- vector #1~#4</a:t>
            </a:r>
          </a:p>
          <a:p>
            <a:endParaRPr lang="en-US" altLang="ko-KR"/>
          </a:p>
          <a:p>
            <a:r>
              <a:rPr lang="en-US" altLang="ko-KR"/>
              <a:t>260608</a:t>
            </a:r>
          </a:p>
          <a:p>
            <a:r>
              <a:rPr lang="en-US" altLang="ko-KR"/>
              <a:t>-  insert</a:t>
            </a:r>
            <a:r>
              <a:rPr lang="ko-KR" altLang="en-US"/>
              <a:t> </a:t>
            </a:r>
            <a:r>
              <a:rPr lang="en-US" altLang="ko-KR"/>
              <a:t>148.2ng/uL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vector 474.4ng/uL</a:t>
            </a:r>
          </a:p>
          <a:p>
            <a:endParaRPr lang="en-US" altLang="ko-KR"/>
          </a:p>
          <a:p>
            <a:r>
              <a:rPr lang="en-US" altLang="ko-KR"/>
              <a:t>vector 0.611uL </a:t>
            </a:r>
          </a:p>
          <a:p>
            <a:r>
              <a:rPr lang="en-US" altLang="ko-KR"/>
              <a:t>insert 2.43uL</a:t>
            </a:r>
          </a:p>
          <a:p>
            <a:r>
              <a:rPr lang="en-US" altLang="ko-KR"/>
              <a:t>DW 6.96uL</a:t>
            </a:r>
          </a:p>
          <a:p>
            <a:r>
              <a:rPr lang="en-US" altLang="ko-KR"/>
              <a:t>GA mixer 10uL</a:t>
            </a:r>
          </a:p>
          <a:p>
            <a:r>
              <a:rPr lang="en-US" altLang="ko-KR"/>
              <a:t>-----------------</a:t>
            </a:r>
          </a:p>
          <a:p>
            <a:r>
              <a:rPr lang="en-US" altLang="ko-KR"/>
              <a:t>Total 20uL</a:t>
            </a:r>
          </a:p>
          <a:p>
            <a:endParaRPr lang="en-US" altLang="ko-KR"/>
          </a:p>
          <a:p>
            <a:r>
              <a:rPr lang="en-US" altLang="ko-KR"/>
              <a:t>Thermocycler 37</a:t>
            </a:r>
            <a:r>
              <a:rPr lang="ko-KR" altLang="en-US"/>
              <a:t>℃ </a:t>
            </a:r>
            <a:r>
              <a:rPr lang="en-US" altLang="ko-KR"/>
              <a:t>5min </a:t>
            </a:r>
            <a:r>
              <a:rPr lang="en-US" altLang="ko-KR">
                <a:sym typeface="Wingdings" panose="05000000000000000000" pitchFamily="2" charset="2"/>
              </a:rPr>
              <a:t> 50</a:t>
            </a:r>
            <a:r>
              <a:rPr lang="ko-KR" altLang="en-US">
                <a:sym typeface="Wingdings" panose="05000000000000000000" pitchFamily="2" charset="2"/>
              </a:rPr>
              <a:t>℃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en-US" altLang="ko-KR"/>
              <a:t>1h</a:t>
            </a:r>
          </a:p>
          <a:p>
            <a:r>
              <a:rPr lang="en-US" altLang="ko-KR"/>
              <a:t>GA purification </a:t>
            </a:r>
            <a:r>
              <a:rPr lang="en-US" altLang="ko-KR">
                <a:sym typeface="Wingdings" panose="05000000000000000000" pitchFamily="2" charset="2"/>
              </a:rPr>
              <a:t> #1 21.8ng/uL, #2 22.9ng/uL</a:t>
            </a:r>
          </a:p>
          <a:p>
            <a:endParaRPr lang="en-US" altLang="ko-KR"/>
          </a:p>
          <a:p>
            <a:r>
              <a:rPr lang="en-US" altLang="ko-KR"/>
              <a:t>260609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GA puri transformation </a:t>
            </a:r>
            <a:r>
              <a:rPr lang="ko-KR" altLang="en-US"/>
              <a:t>결과확인</a:t>
            </a:r>
            <a:endParaRPr lang="en-US" altLang="ko-KR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59870E-368B-4BFE-8A2E-61C14D7252E7}"/>
              </a:ext>
            </a:extLst>
          </p:cNvPr>
          <p:cNvSpPr/>
          <p:nvPr/>
        </p:nvSpPr>
        <p:spPr>
          <a:xfrm>
            <a:off x="2429063" y="-265793"/>
            <a:ext cx="366693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260610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cell</a:t>
            </a:r>
            <a:r>
              <a:rPr lang="ko-KR" altLang="en-US"/>
              <a:t> 회수 </a:t>
            </a:r>
            <a:r>
              <a:rPr lang="en-US" altLang="ko-KR"/>
              <a:t>+ Miniprep</a:t>
            </a:r>
          </a:p>
          <a:p>
            <a:pPr marL="285750" indent="-285750">
              <a:buFontTx/>
              <a:buChar char="-"/>
            </a:pPr>
            <a:endParaRPr lang="en-US" altLang="ko-KR"/>
          </a:p>
          <a:p>
            <a:r>
              <a:rPr lang="en-US" altLang="ko-KR"/>
              <a:t>cell</a:t>
            </a:r>
            <a:r>
              <a:rPr lang="ko-KR" altLang="en-US"/>
              <a:t>회수용 </a:t>
            </a:r>
            <a:r>
              <a:rPr lang="en-US" altLang="ko-KR"/>
              <a:t>buffer recipe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2xYT 15mL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30% glycerol 15mL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20% glucose 3mL</a:t>
            </a:r>
          </a:p>
          <a:p>
            <a:r>
              <a:rPr lang="en-US" altLang="ko-KR"/>
              <a:t>Cell </a:t>
            </a:r>
            <a:r>
              <a:rPr lang="ko-KR" altLang="en-US"/>
              <a:t>회수용 </a:t>
            </a:r>
            <a:r>
              <a:rPr lang="en-US" altLang="ko-KR"/>
              <a:t>buffer 10mL </a:t>
            </a:r>
            <a:r>
              <a:rPr lang="ko-KR" altLang="en-US"/>
              <a:t>뿌리고 </a:t>
            </a:r>
            <a:r>
              <a:rPr lang="en-US" altLang="ko-KR"/>
              <a:t>spread + 10mL </a:t>
            </a:r>
            <a:r>
              <a:rPr lang="ko-KR" altLang="en-US"/>
              <a:t>뿌리기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4</a:t>
            </a:r>
            <a:r>
              <a:rPr lang="ko-KR" altLang="en-US"/>
              <a:t>℃ </a:t>
            </a:r>
            <a:r>
              <a:rPr lang="en-US" altLang="ko-KR"/>
              <a:t>2000xg 10min centri </a:t>
            </a:r>
            <a:r>
              <a:rPr lang="en-US" altLang="ko-KR">
                <a:sym typeface="Wingdings" panose="05000000000000000000" pitchFamily="2" charset="2"/>
              </a:rPr>
              <a:t> OD600 </a:t>
            </a:r>
            <a:r>
              <a:rPr lang="ko-KR" altLang="en-US">
                <a:sym typeface="Wingdings" panose="05000000000000000000" pitchFamily="2" charset="2"/>
              </a:rPr>
              <a:t>측정</a:t>
            </a:r>
            <a:endParaRPr lang="en-US" altLang="ko-KR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LB950uL + LIB 50uL  OD600 1.079  OD600 0.661(1/2</a:t>
            </a:r>
            <a:r>
              <a:rPr lang="ko-KR" altLang="en-US">
                <a:sym typeface="Wingdings" panose="05000000000000000000" pitchFamily="2" charset="2"/>
              </a:rPr>
              <a:t>희석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26.44(</a:t>
            </a:r>
            <a:r>
              <a:rPr lang="ko-KR" altLang="en-US">
                <a:sym typeface="Wingdings" panose="05000000000000000000" pitchFamily="2" charset="2"/>
              </a:rPr>
              <a:t>총 </a:t>
            </a:r>
            <a:r>
              <a:rPr lang="en-US" altLang="ko-KR">
                <a:sym typeface="Wingdings" panose="05000000000000000000" pitchFamily="2" charset="2"/>
              </a:rPr>
              <a:t>OD600)</a:t>
            </a: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LIBRARY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500uL +LB 1.5mL  Miniprep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F332DF-3D4E-4B9C-B6C4-9CF679505A83}"/>
              </a:ext>
            </a:extLst>
          </p:cNvPr>
          <p:cNvSpPr/>
          <p:nvPr/>
        </p:nvSpPr>
        <p:spPr>
          <a:xfrm>
            <a:off x="3027723" y="3750144"/>
            <a:ext cx="38902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sym typeface="Wingdings" panose="05000000000000000000" pitchFamily="2" charset="2"/>
              </a:rPr>
              <a:t>260611</a:t>
            </a:r>
          </a:p>
          <a:p>
            <a:r>
              <a:rPr lang="en-US" altLang="ko-KR">
                <a:sym typeface="Wingdings" panose="05000000000000000000" pitchFamily="2" charset="2"/>
              </a:rPr>
              <a:t>40</a:t>
            </a:r>
            <a:r>
              <a:rPr lang="ko-KR" altLang="en-US">
                <a:sym typeface="Wingdings" panose="05000000000000000000" pitchFamily="2" charset="2"/>
              </a:rPr>
              <a:t>개 </a:t>
            </a:r>
            <a:r>
              <a:rPr lang="en-US" altLang="ko-KR">
                <a:sym typeface="Wingdings" panose="05000000000000000000" pitchFamily="2" charset="2"/>
              </a:rPr>
              <a:t>sample sanger seq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>
                <a:sym typeface="Wingdings" panose="05000000000000000000" pitchFamily="2" charset="2"/>
              </a:rPr>
              <a:t>HC01484462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260615</a:t>
            </a:r>
          </a:p>
          <a:p>
            <a:r>
              <a:rPr lang="en-US" altLang="ko-KR">
                <a:sym typeface="Wingdings" panose="05000000000000000000" pitchFamily="2" charset="2"/>
              </a:rPr>
              <a:t>LIBRARY(HK41) TF</a:t>
            </a:r>
          </a:p>
          <a:p>
            <a:r>
              <a:rPr lang="en-US" altLang="ko-KR">
                <a:sym typeface="Wingdings" panose="05000000000000000000" pitchFamily="2" charset="2"/>
              </a:rPr>
              <a:t>library plasmid extract 50uL x2  (lib 10uL+CP cell 200uL) X10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Library plasmid extract conc.(ng/uL)</a:t>
            </a: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#1 10ng/uL</a:t>
            </a:r>
          </a:p>
          <a:p>
            <a:pPr marL="285750" indent="-285750">
              <a:buFontTx/>
              <a:buChar char="-"/>
            </a:pPr>
            <a:r>
              <a:rPr lang="en-US" altLang="ko-KR">
                <a:sym typeface="Wingdings" panose="05000000000000000000" pitchFamily="2" charset="2"/>
              </a:rPr>
              <a:t>#2 8.4ng/uL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83AFD7-4D37-4FEB-84E8-A99735926FAE}"/>
              </a:ext>
            </a:extLst>
          </p:cNvPr>
          <p:cNvSpPr/>
          <p:nvPr/>
        </p:nvSpPr>
        <p:spPr>
          <a:xfrm>
            <a:off x="7819697" y="173386"/>
            <a:ext cx="44458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260616</a:t>
            </a:r>
          </a:p>
          <a:p>
            <a:r>
              <a:rPr lang="en-US" altLang="ko-KR">
                <a:sym typeface="Wingdings" panose="05000000000000000000" pitchFamily="2" charset="2"/>
              </a:rPr>
              <a:t>Library(HK41) cell </a:t>
            </a:r>
            <a:r>
              <a:rPr lang="ko-KR" altLang="en-US">
                <a:sym typeface="Wingdings" panose="05000000000000000000" pitchFamily="2" charset="2"/>
              </a:rPr>
              <a:t>회수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10mL</a:t>
            </a:r>
            <a:r>
              <a:rPr lang="ko-KR" altLang="en-US">
                <a:sym typeface="Wingdings" panose="05000000000000000000" pitchFamily="2" charset="2"/>
              </a:rPr>
              <a:t>씩 </a:t>
            </a:r>
            <a:r>
              <a:rPr lang="en-US" altLang="ko-KR">
                <a:sym typeface="Wingdings" panose="05000000000000000000" pitchFamily="2" charset="2"/>
              </a:rPr>
              <a:t>2</a:t>
            </a:r>
            <a:r>
              <a:rPr lang="ko-KR" altLang="en-US">
                <a:sym typeface="Wingdings" panose="05000000000000000000" pitchFamily="2" charset="2"/>
              </a:rPr>
              <a:t>번 회수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Centrifuge</a:t>
            </a:r>
            <a:r>
              <a:rPr lang="ko-KR" altLang="en-US">
                <a:sym typeface="Wingdings" panose="05000000000000000000" pitchFamily="2" charset="2"/>
              </a:rPr>
              <a:t>시켜 </a:t>
            </a:r>
            <a:r>
              <a:rPr lang="en-US" altLang="ko-KR">
                <a:sym typeface="Wingdings" panose="05000000000000000000" pitchFamily="2" charset="2"/>
              </a:rPr>
              <a:t>1mL</a:t>
            </a:r>
            <a:r>
              <a:rPr lang="ko-KR" altLang="en-US">
                <a:sym typeface="Wingdings" panose="05000000000000000000" pitchFamily="2" charset="2"/>
              </a:rPr>
              <a:t>로 스탁제작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OD600 </a:t>
            </a:r>
          </a:p>
          <a:p>
            <a:r>
              <a:rPr lang="en-US" altLang="ko-KR">
                <a:sym typeface="Wingdings" panose="05000000000000000000" pitchFamily="2" charset="2"/>
              </a:rPr>
              <a:t>1/100</a:t>
            </a:r>
            <a:r>
              <a:rPr lang="ko-KR" altLang="en-US">
                <a:sym typeface="Wingdings" panose="05000000000000000000" pitchFamily="2" charset="2"/>
              </a:rPr>
              <a:t>배 </a:t>
            </a:r>
            <a:r>
              <a:rPr lang="en-US" altLang="ko-KR">
                <a:sym typeface="Wingdings" panose="05000000000000000000" pitchFamily="2" charset="2"/>
              </a:rPr>
              <a:t> 1.369</a:t>
            </a:r>
          </a:p>
          <a:p>
            <a:r>
              <a:rPr lang="en-US" altLang="ko-KR">
                <a:sym typeface="Wingdings" panose="05000000000000000000" pitchFamily="2" charset="2"/>
              </a:rPr>
              <a:t>1/200</a:t>
            </a:r>
            <a:r>
              <a:rPr lang="ko-KR" altLang="en-US">
                <a:sym typeface="Wingdings" panose="05000000000000000000" pitchFamily="2" charset="2"/>
              </a:rPr>
              <a:t>배 </a:t>
            </a:r>
            <a:r>
              <a:rPr lang="en-US" altLang="ko-KR">
                <a:sym typeface="Wingdings" panose="05000000000000000000" pitchFamily="2" charset="2"/>
              </a:rPr>
              <a:t> 0.968</a:t>
            </a:r>
          </a:p>
          <a:p>
            <a:r>
              <a:rPr lang="en-US" altLang="ko-KR">
                <a:sym typeface="Wingdings" panose="05000000000000000000" pitchFamily="2" charset="2"/>
              </a:rPr>
              <a:t>1/400</a:t>
            </a:r>
            <a:r>
              <a:rPr lang="ko-KR" altLang="en-US">
                <a:sym typeface="Wingdings" panose="05000000000000000000" pitchFamily="2" charset="2"/>
              </a:rPr>
              <a:t>배 </a:t>
            </a:r>
            <a:r>
              <a:rPr lang="en-US" altLang="ko-KR">
                <a:sym typeface="Wingdings" panose="05000000000000000000" pitchFamily="2" charset="2"/>
              </a:rPr>
              <a:t> 0.533  </a:t>
            </a:r>
            <a:r>
              <a:rPr lang="ko-KR" altLang="en-US">
                <a:sym typeface="Wingdings" panose="05000000000000000000" pitchFamily="2" charset="2"/>
              </a:rPr>
              <a:t>평균 </a:t>
            </a:r>
            <a:r>
              <a:rPr lang="en-US" altLang="ko-KR">
                <a:sym typeface="Wingdings" panose="05000000000000000000" pitchFamily="2" charset="2"/>
              </a:rPr>
              <a:t>OD600 203.3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DF2A25-F088-42EE-A005-BC77916AC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244" y="2713138"/>
            <a:ext cx="1868963" cy="13127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B14500-3962-4E6D-9599-B8ACACFA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739" y="4038600"/>
            <a:ext cx="1847850" cy="15474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3E45FD-0477-4335-82DF-347150A87C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57" t="30926" r="23259" b="14074"/>
          <a:stretch/>
        </p:blipFill>
        <p:spPr>
          <a:xfrm rot="16200000">
            <a:off x="10368608" y="2177406"/>
            <a:ext cx="960739" cy="21621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97112B-6CA8-46A8-AAAD-996C4A4B96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875"/>
          <a:stretch/>
        </p:blipFill>
        <p:spPr>
          <a:xfrm>
            <a:off x="9804952" y="3858178"/>
            <a:ext cx="2103221" cy="13107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21283CF-B0C1-451A-9A67-AB7D53199F2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7" b="11482"/>
          <a:stretch/>
        </p:blipFill>
        <p:spPr>
          <a:xfrm rot="16200000">
            <a:off x="9157758" y="5646811"/>
            <a:ext cx="1073755" cy="11847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35EA4D-DEC6-4F50-912C-B42B62EA04B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2" b="8942"/>
          <a:stretch/>
        </p:blipFill>
        <p:spPr>
          <a:xfrm rot="16200000">
            <a:off x="7936693" y="5618740"/>
            <a:ext cx="1092000" cy="119561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8495A96-19EF-4246-92D1-F5E5F64D6B7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3889" b="8333"/>
          <a:stretch/>
        </p:blipFill>
        <p:spPr>
          <a:xfrm rot="16200000">
            <a:off x="10463839" y="5655350"/>
            <a:ext cx="1025992" cy="106399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72170A-C550-44CA-8CCD-5E35289EE497}"/>
              </a:ext>
            </a:extLst>
          </p:cNvPr>
          <p:cNvSpPr txBox="1"/>
          <p:nvPr/>
        </p:nvSpPr>
        <p:spPr>
          <a:xfrm>
            <a:off x="7255354" y="2799616"/>
            <a:ext cx="900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Random Mutagenesis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Sample #1~#6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8E7A7E-EED9-4631-B064-1B539B6B2792}"/>
              </a:ext>
            </a:extLst>
          </p:cNvPr>
          <p:cNvSpPr txBox="1"/>
          <p:nvPr/>
        </p:nvSpPr>
        <p:spPr>
          <a:xfrm>
            <a:off x="6542878" y="3257074"/>
            <a:ext cx="3989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03730-8A4D-4A2F-AD08-5C6ECA188784}"/>
              </a:ext>
            </a:extLst>
          </p:cNvPr>
          <p:cNvSpPr txBox="1"/>
          <p:nvPr/>
        </p:nvSpPr>
        <p:spPr>
          <a:xfrm>
            <a:off x="6594812" y="3177039"/>
            <a:ext cx="3479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70C79-804C-4C0D-A108-82F2E355EA59}"/>
              </a:ext>
            </a:extLst>
          </p:cNvPr>
          <p:cNvSpPr txBox="1"/>
          <p:nvPr/>
        </p:nvSpPr>
        <p:spPr>
          <a:xfrm>
            <a:off x="6594814" y="3091501"/>
            <a:ext cx="3384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47FEE0E-15FB-4F41-85C1-7C00A4299FB3}"/>
              </a:ext>
            </a:extLst>
          </p:cNvPr>
          <p:cNvCxnSpPr>
            <a:cxnSpLocks/>
          </p:cNvCxnSpPr>
          <p:nvPr/>
        </p:nvCxnSpPr>
        <p:spPr>
          <a:xfrm>
            <a:off x="6849130" y="3261263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5E69544-BA82-46B8-9529-31BB8F6CFDB6}"/>
              </a:ext>
            </a:extLst>
          </p:cNvPr>
          <p:cNvCxnSpPr>
            <a:cxnSpLocks/>
          </p:cNvCxnSpPr>
          <p:nvPr/>
        </p:nvCxnSpPr>
        <p:spPr>
          <a:xfrm>
            <a:off x="6853893" y="317792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680A57-355F-4B3E-9542-D5FFDFA64107}"/>
              </a:ext>
            </a:extLst>
          </p:cNvPr>
          <p:cNvSpPr txBox="1"/>
          <p:nvPr/>
        </p:nvSpPr>
        <p:spPr>
          <a:xfrm>
            <a:off x="7008497" y="2798108"/>
            <a:ext cx="32266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PC</a:t>
            </a:r>
          </a:p>
        </p:txBody>
      </p: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3B1ED43B-62B8-4F7D-B282-B1EB2E4C3C54}"/>
              </a:ext>
            </a:extLst>
          </p:cNvPr>
          <p:cNvSpPr/>
          <p:nvPr/>
        </p:nvSpPr>
        <p:spPr>
          <a:xfrm rot="5400000">
            <a:off x="7664291" y="2659696"/>
            <a:ext cx="45719" cy="814387"/>
          </a:xfrm>
          <a:prstGeom prst="leftBrace">
            <a:avLst>
              <a:gd name="adj1" fmla="val 8333"/>
              <a:gd name="adj2" fmla="val 5029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A41E32-8713-495E-B7F0-AA99DD4F774B}"/>
              </a:ext>
            </a:extLst>
          </p:cNvPr>
          <p:cNvCxnSpPr>
            <a:cxnSpLocks/>
          </p:cNvCxnSpPr>
          <p:nvPr/>
        </p:nvCxnSpPr>
        <p:spPr>
          <a:xfrm>
            <a:off x="6861034" y="3342230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BE8CB7-8B4C-4FCE-BD73-AE0441503DC1}"/>
              </a:ext>
            </a:extLst>
          </p:cNvPr>
          <p:cNvSpPr txBox="1"/>
          <p:nvPr/>
        </p:nvSpPr>
        <p:spPr>
          <a:xfrm>
            <a:off x="7263532" y="4252364"/>
            <a:ext cx="900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Random Mutagenesis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Sample #1~#6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4E760-C630-49D4-A737-6D0F6F10F6FF}"/>
              </a:ext>
            </a:extLst>
          </p:cNvPr>
          <p:cNvSpPr txBox="1"/>
          <p:nvPr/>
        </p:nvSpPr>
        <p:spPr>
          <a:xfrm>
            <a:off x="6605825" y="4721727"/>
            <a:ext cx="3989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6680-053B-47C9-8A89-53E194E269A9}"/>
              </a:ext>
            </a:extLst>
          </p:cNvPr>
          <p:cNvSpPr txBox="1"/>
          <p:nvPr/>
        </p:nvSpPr>
        <p:spPr>
          <a:xfrm>
            <a:off x="6660140" y="4644073"/>
            <a:ext cx="3479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505BD-F454-46C3-ABFF-71AE7DF17A15}"/>
              </a:ext>
            </a:extLst>
          </p:cNvPr>
          <p:cNvSpPr txBox="1"/>
          <p:nvPr/>
        </p:nvSpPr>
        <p:spPr>
          <a:xfrm>
            <a:off x="6660142" y="4558535"/>
            <a:ext cx="3384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B038CC2-5840-4B41-9167-01CD875D6311}"/>
              </a:ext>
            </a:extLst>
          </p:cNvPr>
          <p:cNvCxnSpPr>
            <a:cxnSpLocks/>
          </p:cNvCxnSpPr>
          <p:nvPr/>
        </p:nvCxnSpPr>
        <p:spPr>
          <a:xfrm>
            <a:off x="6919220" y="4737821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83DB4FC-33D4-4264-B3C4-CDBAB7DADDD0}"/>
              </a:ext>
            </a:extLst>
          </p:cNvPr>
          <p:cNvCxnSpPr>
            <a:cxnSpLocks/>
          </p:cNvCxnSpPr>
          <p:nvPr/>
        </p:nvCxnSpPr>
        <p:spPr>
          <a:xfrm>
            <a:off x="6919221" y="465924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B683A84-3222-4526-9425-8BE8545BF699}"/>
              </a:ext>
            </a:extLst>
          </p:cNvPr>
          <p:cNvSpPr txBox="1"/>
          <p:nvPr/>
        </p:nvSpPr>
        <p:spPr>
          <a:xfrm>
            <a:off x="7045250" y="4250856"/>
            <a:ext cx="32266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PC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1A70B7-F31C-42F0-8E20-5791E5CFF289}"/>
              </a:ext>
            </a:extLst>
          </p:cNvPr>
          <p:cNvSpPr txBox="1"/>
          <p:nvPr/>
        </p:nvSpPr>
        <p:spPr>
          <a:xfrm>
            <a:off x="8243017" y="4253238"/>
            <a:ext cx="411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Vector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#1~#4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왼쪽 중괄호 48">
            <a:extLst>
              <a:ext uri="{FF2B5EF4-FFF2-40B4-BE49-F238E27FC236}">
                <a16:creationId xmlns:a16="http://schemas.microsoft.com/office/drawing/2014/main" id="{D1C64783-CD3A-4326-919D-5C34160E80E8}"/>
              </a:ext>
            </a:extLst>
          </p:cNvPr>
          <p:cNvSpPr/>
          <p:nvPr/>
        </p:nvSpPr>
        <p:spPr>
          <a:xfrm rot="5400000">
            <a:off x="7717714" y="4108476"/>
            <a:ext cx="45719" cy="814387"/>
          </a:xfrm>
          <a:prstGeom prst="leftBrace">
            <a:avLst>
              <a:gd name="adj1" fmla="val 8333"/>
              <a:gd name="adj2" fmla="val 5029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왼쪽 중괄호 49">
            <a:extLst>
              <a:ext uri="{FF2B5EF4-FFF2-40B4-BE49-F238E27FC236}">
                <a16:creationId xmlns:a16="http://schemas.microsoft.com/office/drawing/2014/main" id="{21990CB1-9DB6-4750-80B9-4399C7E082E3}"/>
              </a:ext>
            </a:extLst>
          </p:cNvPr>
          <p:cNvSpPr/>
          <p:nvPr/>
        </p:nvSpPr>
        <p:spPr>
          <a:xfrm rot="5400000">
            <a:off x="8424945" y="4237858"/>
            <a:ext cx="45719" cy="5524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C561106-4D1E-4E7F-8578-03C0EDD44683}"/>
              </a:ext>
            </a:extLst>
          </p:cNvPr>
          <p:cNvCxnSpPr>
            <a:cxnSpLocks/>
          </p:cNvCxnSpPr>
          <p:nvPr/>
        </p:nvCxnSpPr>
        <p:spPr>
          <a:xfrm>
            <a:off x="6923981" y="480926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C351222-8D6C-4F54-96D6-65B4BD3E9EB3}"/>
              </a:ext>
            </a:extLst>
          </p:cNvPr>
          <p:cNvSpPr txBox="1"/>
          <p:nvPr/>
        </p:nvSpPr>
        <p:spPr>
          <a:xfrm>
            <a:off x="9470945" y="4317867"/>
            <a:ext cx="3989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132B9C-13E3-45BC-B4C0-BA95462F011D}"/>
              </a:ext>
            </a:extLst>
          </p:cNvPr>
          <p:cNvSpPr txBox="1"/>
          <p:nvPr/>
        </p:nvSpPr>
        <p:spPr>
          <a:xfrm>
            <a:off x="9525260" y="4240213"/>
            <a:ext cx="3479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7CF90F-1D47-41E4-83B0-ED1C856A93F3}"/>
              </a:ext>
            </a:extLst>
          </p:cNvPr>
          <p:cNvSpPr txBox="1"/>
          <p:nvPr/>
        </p:nvSpPr>
        <p:spPr>
          <a:xfrm>
            <a:off x="9525262" y="4154675"/>
            <a:ext cx="3384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3646245-79C7-40D4-8C04-AF025F396B22}"/>
              </a:ext>
            </a:extLst>
          </p:cNvPr>
          <p:cNvCxnSpPr>
            <a:cxnSpLocks/>
          </p:cNvCxnSpPr>
          <p:nvPr/>
        </p:nvCxnSpPr>
        <p:spPr>
          <a:xfrm>
            <a:off x="9784340" y="4333961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F972164-9A57-4E1E-95CD-205AF035A25F}"/>
              </a:ext>
            </a:extLst>
          </p:cNvPr>
          <p:cNvCxnSpPr>
            <a:cxnSpLocks/>
          </p:cNvCxnSpPr>
          <p:nvPr/>
        </p:nvCxnSpPr>
        <p:spPr>
          <a:xfrm>
            <a:off x="9784341" y="425538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2453F8A-3402-4DF9-9A6D-E0AB8F902C4F}"/>
              </a:ext>
            </a:extLst>
          </p:cNvPr>
          <p:cNvSpPr txBox="1"/>
          <p:nvPr/>
        </p:nvSpPr>
        <p:spPr>
          <a:xfrm>
            <a:off x="10649350" y="3830327"/>
            <a:ext cx="411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Vector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#1~#4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F459083F-B70C-4A56-AEA8-374A22AB28FE}"/>
              </a:ext>
            </a:extLst>
          </p:cNvPr>
          <p:cNvSpPr/>
          <p:nvPr/>
        </p:nvSpPr>
        <p:spPr>
          <a:xfrm rot="5400000">
            <a:off x="10832464" y="3297424"/>
            <a:ext cx="45719" cy="16256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C76F98C-4300-4EB5-9978-7FD974D887F4}"/>
              </a:ext>
            </a:extLst>
          </p:cNvPr>
          <p:cNvCxnSpPr>
            <a:cxnSpLocks/>
          </p:cNvCxnSpPr>
          <p:nvPr/>
        </p:nvCxnSpPr>
        <p:spPr>
          <a:xfrm>
            <a:off x="9789101" y="440540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3E1E3E4-55A3-46D0-A74C-8991FAA10593}"/>
              </a:ext>
            </a:extLst>
          </p:cNvPr>
          <p:cNvSpPr txBox="1"/>
          <p:nvPr/>
        </p:nvSpPr>
        <p:spPr>
          <a:xfrm>
            <a:off x="11817270" y="4321042"/>
            <a:ext cx="3989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E98F38-7453-4191-A9D4-280C67168861}"/>
              </a:ext>
            </a:extLst>
          </p:cNvPr>
          <p:cNvSpPr txBox="1"/>
          <p:nvPr/>
        </p:nvSpPr>
        <p:spPr>
          <a:xfrm>
            <a:off x="11820785" y="4243388"/>
            <a:ext cx="3479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A66F9F-773D-494A-BD81-6F291F0AA6A3}"/>
              </a:ext>
            </a:extLst>
          </p:cNvPr>
          <p:cNvSpPr txBox="1"/>
          <p:nvPr/>
        </p:nvSpPr>
        <p:spPr>
          <a:xfrm>
            <a:off x="11820787" y="4157850"/>
            <a:ext cx="3384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6414F75-9045-47F4-9337-5557BD2E8661}"/>
              </a:ext>
            </a:extLst>
          </p:cNvPr>
          <p:cNvCxnSpPr>
            <a:cxnSpLocks/>
          </p:cNvCxnSpPr>
          <p:nvPr/>
        </p:nvCxnSpPr>
        <p:spPr>
          <a:xfrm>
            <a:off x="11797290" y="4333961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1A95DC8-8D5A-451A-9909-0E52C51300EC}"/>
              </a:ext>
            </a:extLst>
          </p:cNvPr>
          <p:cNvCxnSpPr>
            <a:cxnSpLocks/>
          </p:cNvCxnSpPr>
          <p:nvPr/>
        </p:nvCxnSpPr>
        <p:spPr>
          <a:xfrm>
            <a:off x="11797291" y="425538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D876771-6E56-47BB-BFBF-248428E49BBD}"/>
              </a:ext>
            </a:extLst>
          </p:cNvPr>
          <p:cNvCxnSpPr>
            <a:cxnSpLocks/>
          </p:cNvCxnSpPr>
          <p:nvPr/>
        </p:nvCxnSpPr>
        <p:spPr>
          <a:xfrm>
            <a:off x="11802051" y="440540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CFB42A9-25A3-4776-AE90-2CC0B1BD906A}"/>
              </a:ext>
            </a:extLst>
          </p:cNvPr>
          <p:cNvSpPr txBox="1"/>
          <p:nvPr/>
        </p:nvSpPr>
        <p:spPr>
          <a:xfrm>
            <a:off x="10357329" y="2577366"/>
            <a:ext cx="900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Random Mutagenesis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Sample #1~#6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B7F443-E6A4-4FAB-991D-2165FF4BE622}"/>
              </a:ext>
            </a:extLst>
          </p:cNvPr>
          <p:cNvSpPr txBox="1"/>
          <p:nvPr/>
        </p:nvSpPr>
        <p:spPr>
          <a:xfrm>
            <a:off x="9363071" y="2931636"/>
            <a:ext cx="3989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7358FC-9A73-4C89-B828-CC4C666D37E8}"/>
              </a:ext>
            </a:extLst>
          </p:cNvPr>
          <p:cNvSpPr txBox="1"/>
          <p:nvPr/>
        </p:nvSpPr>
        <p:spPr>
          <a:xfrm>
            <a:off x="9412624" y="2858745"/>
            <a:ext cx="3479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3860B1-68A5-4C93-B43A-5341E848F752}"/>
              </a:ext>
            </a:extLst>
          </p:cNvPr>
          <p:cNvSpPr txBox="1"/>
          <p:nvPr/>
        </p:nvSpPr>
        <p:spPr>
          <a:xfrm>
            <a:off x="9412626" y="2751781"/>
            <a:ext cx="3384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67E6CD8-C79E-4EBA-9102-9C1A4CE2F9BC}"/>
              </a:ext>
            </a:extLst>
          </p:cNvPr>
          <p:cNvCxnSpPr>
            <a:cxnSpLocks/>
          </p:cNvCxnSpPr>
          <p:nvPr/>
        </p:nvCxnSpPr>
        <p:spPr>
          <a:xfrm>
            <a:off x="9731235" y="2916776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A201AB57-7287-4B5D-B6EF-16CAAAF6D89B}"/>
              </a:ext>
            </a:extLst>
          </p:cNvPr>
          <p:cNvCxnSpPr>
            <a:cxnSpLocks/>
          </p:cNvCxnSpPr>
          <p:nvPr/>
        </p:nvCxnSpPr>
        <p:spPr>
          <a:xfrm>
            <a:off x="9726474" y="288820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왼쪽 중괄호 80">
            <a:extLst>
              <a:ext uri="{FF2B5EF4-FFF2-40B4-BE49-F238E27FC236}">
                <a16:creationId xmlns:a16="http://schemas.microsoft.com/office/drawing/2014/main" id="{AF60EDC8-8CFA-4C1D-A370-4A9AC26C94E4}"/>
              </a:ext>
            </a:extLst>
          </p:cNvPr>
          <p:cNvSpPr/>
          <p:nvPr/>
        </p:nvSpPr>
        <p:spPr>
          <a:xfrm rot="5400000">
            <a:off x="10815002" y="1909602"/>
            <a:ext cx="45719" cy="1844675"/>
          </a:xfrm>
          <a:prstGeom prst="leftBrace">
            <a:avLst>
              <a:gd name="adj1" fmla="val 8333"/>
              <a:gd name="adj2" fmla="val 5029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8C8AE3A1-51F7-4D8F-B064-5FA7C8863350}"/>
              </a:ext>
            </a:extLst>
          </p:cNvPr>
          <p:cNvCxnSpPr>
            <a:cxnSpLocks/>
          </p:cNvCxnSpPr>
          <p:nvPr/>
        </p:nvCxnSpPr>
        <p:spPr>
          <a:xfrm>
            <a:off x="9731234" y="2950117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B32D888-A312-43BD-AB06-F9D8876B059F}"/>
              </a:ext>
            </a:extLst>
          </p:cNvPr>
          <p:cNvSpPr txBox="1"/>
          <p:nvPr/>
        </p:nvSpPr>
        <p:spPr>
          <a:xfrm>
            <a:off x="11702975" y="2663807"/>
            <a:ext cx="32266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PC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07FB663-30B0-4382-9DAA-FD6C755E3C20}"/>
              </a:ext>
            </a:extLst>
          </p:cNvPr>
          <p:cNvCxnSpPr>
            <a:cxnSpLocks/>
          </p:cNvCxnSpPr>
          <p:nvPr/>
        </p:nvCxnSpPr>
        <p:spPr>
          <a:xfrm flipV="1">
            <a:off x="9665000" y="2950096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9A727E3A-C5C3-45AC-82BB-76FD39A81018}"/>
              </a:ext>
            </a:extLst>
          </p:cNvPr>
          <p:cNvCxnSpPr>
            <a:cxnSpLocks/>
          </p:cNvCxnSpPr>
          <p:nvPr/>
        </p:nvCxnSpPr>
        <p:spPr>
          <a:xfrm flipV="1">
            <a:off x="9665000" y="2916755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62B5F7A-62EE-4417-9996-FFE53AD7F2A5}"/>
              </a:ext>
            </a:extLst>
          </p:cNvPr>
          <p:cNvCxnSpPr>
            <a:cxnSpLocks/>
          </p:cNvCxnSpPr>
          <p:nvPr/>
        </p:nvCxnSpPr>
        <p:spPr>
          <a:xfrm>
            <a:off x="9663359" y="2836846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40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D05B3CA3-AFE9-475F-87A3-50B63539D3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1" t="26720" r="10988" b="17196"/>
          <a:stretch/>
        </p:blipFill>
        <p:spPr>
          <a:xfrm rot="16200000">
            <a:off x="500283" y="5510394"/>
            <a:ext cx="1403587" cy="139831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2109E9DF-E310-4DD5-8007-5D74EF4788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16" t="35569" r="18776" b="35931"/>
          <a:stretch/>
        </p:blipFill>
        <p:spPr>
          <a:xfrm rot="16200000">
            <a:off x="3528633" y="1608620"/>
            <a:ext cx="2224342" cy="4355135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CF28CAFA-3E3A-4FBE-9BD8-91A1B31080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4" t="38756" r="23893" b="12566"/>
          <a:stretch/>
        </p:blipFill>
        <p:spPr>
          <a:xfrm rot="16200000">
            <a:off x="7712286" y="-472029"/>
            <a:ext cx="971830" cy="944057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01D4CBBB-7DF6-488B-9C86-8417AC9375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7" t="37553" r="2346" b="12500"/>
          <a:stretch/>
        </p:blipFill>
        <p:spPr>
          <a:xfrm rot="16200000">
            <a:off x="8662951" y="-479111"/>
            <a:ext cx="969901" cy="986624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BBD0471F-747F-4F7C-BE43-B9C5D4F9F62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4" t="24667" r="10444" b="17222"/>
          <a:stretch/>
        </p:blipFill>
        <p:spPr>
          <a:xfrm>
            <a:off x="502920" y="4168537"/>
            <a:ext cx="1383632" cy="1383632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C2931B63-BEC5-4B2C-B306-B9E0FB60F16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0" t="33111" r="3778" b="9111"/>
          <a:stretch/>
        </p:blipFill>
        <p:spPr>
          <a:xfrm rot="16200000">
            <a:off x="506948" y="2778473"/>
            <a:ext cx="1388270" cy="1396326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0027B5C6-331D-4A15-BABB-19699793224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0" t="25777" r="2445" b="16001"/>
          <a:stretch/>
        </p:blipFill>
        <p:spPr>
          <a:xfrm rot="16200000">
            <a:off x="500243" y="1406761"/>
            <a:ext cx="1408027" cy="1402673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0CDC9E79-D6BA-4CB6-9CE0-B1C95CD5DC2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3" t="32222" r="12666" b="10111"/>
          <a:stretch/>
        </p:blipFill>
        <p:spPr>
          <a:xfrm rot="16200000">
            <a:off x="504269" y="-1349"/>
            <a:ext cx="1396327" cy="1399022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1932BA05-9B21-4C2D-A16E-24E3DF4EA1B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10" t="35879" r="15741" b="14700"/>
          <a:stretch/>
        </p:blipFill>
        <p:spPr>
          <a:xfrm rot="16200000">
            <a:off x="7720185" y="486620"/>
            <a:ext cx="969510" cy="967245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2E72F9C3-D1DC-4D8B-8F05-C0F0440F1FB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8472" t="40972" r="6481" b="10416"/>
          <a:stretch/>
        </p:blipFill>
        <p:spPr>
          <a:xfrm rot="16200000">
            <a:off x="8679709" y="485525"/>
            <a:ext cx="970700" cy="967246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D564410A-4688-480C-BA2A-969A6D9155BA}"/>
              </a:ext>
            </a:extLst>
          </p:cNvPr>
          <p:cNvSpPr txBox="1"/>
          <p:nvPr/>
        </p:nvSpPr>
        <p:spPr>
          <a:xfrm>
            <a:off x="6778877" y="4064899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7FAD712-1604-4EDC-8B8F-C42458AF5CA1}"/>
              </a:ext>
            </a:extLst>
          </p:cNvPr>
          <p:cNvSpPr txBox="1"/>
          <p:nvPr/>
        </p:nvSpPr>
        <p:spPr>
          <a:xfrm>
            <a:off x="6801283" y="392429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2E27549-CB10-4FE3-A70A-3413CAF4611F}"/>
              </a:ext>
            </a:extLst>
          </p:cNvPr>
          <p:cNvSpPr txBox="1"/>
          <p:nvPr/>
        </p:nvSpPr>
        <p:spPr>
          <a:xfrm>
            <a:off x="6796522" y="3622062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7E9D8F51-2988-47DC-A813-A2D93ED6419D}"/>
              </a:ext>
            </a:extLst>
          </p:cNvPr>
          <p:cNvCxnSpPr>
            <a:cxnSpLocks/>
          </p:cNvCxnSpPr>
          <p:nvPr/>
        </p:nvCxnSpPr>
        <p:spPr>
          <a:xfrm>
            <a:off x="6811282" y="3957467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5F4E43B-FBE4-4D10-AB34-E178860BE807}"/>
              </a:ext>
            </a:extLst>
          </p:cNvPr>
          <p:cNvCxnSpPr>
            <a:cxnSpLocks/>
          </p:cNvCxnSpPr>
          <p:nvPr/>
        </p:nvCxnSpPr>
        <p:spPr>
          <a:xfrm>
            <a:off x="6718415" y="3959848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88BCF70-7D18-40C4-9F40-8EB017F7F00E}"/>
              </a:ext>
            </a:extLst>
          </p:cNvPr>
          <p:cNvCxnSpPr>
            <a:cxnSpLocks/>
          </p:cNvCxnSpPr>
          <p:nvPr/>
        </p:nvCxnSpPr>
        <p:spPr>
          <a:xfrm flipV="1">
            <a:off x="6816045" y="3778876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9A534FE-3D28-495F-8E05-21D88E0D7C2B}"/>
              </a:ext>
            </a:extLst>
          </p:cNvPr>
          <p:cNvCxnSpPr>
            <a:cxnSpLocks/>
          </p:cNvCxnSpPr>
          <p:nvPr/>
        </p:nvCxnSpPr>
        <p:spPr>
          <a:xfrm>
            <a:off x="6723178" y="3821739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E7B3535-6ADE-4FCC-A2FD-AC6115F9DAE6}"/>
              </a:ext>
            </a:extLst>
          </p:cNvPr>
          <p:cNvCxnSpPr>
            <a:cxnSpLocks/>
          </p:cNvCxnSpPr>
          <p:nvPr/>
        </p:nvCxnSpPr>
        <p:spPr>
          <a:xfrm>
            <a:off x="6711883" y="4071876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31DE600-6660-4882-A940-24FB47A4BCA3}"/>
              </a:ext>
            </a:extLst>
          </p:cNvPr>
          <p:cNvSpPr txBox="1"/>
          <p:nvPr/>
        </p:nvSpPr>
        <p:spPr>
          <a:xfrm>
            <a:off x="3742602" y="2987259"/>
            <a:ext cx="1345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Random Mutagenesis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Sample #1~#6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5BDD38C-9B0E-4C18-A9C1-FEAC8FB4C7F9}"/>
              </a:ext>
            </a:extLst>
          </p:cNvPr>
          <p:cNvCxnSpPr>
            <a:cxnSpLocks/>
          </p:cNvCxnSpPr>
          <p:nvPr/>
        </p:nvCxnSpPr>
        <p:spPr>
          <a:xfrm>
            <a:off x="6811281" y="4069386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6FA36065-FC59-48F5-AE1B-325623B8A041}"/>
              </a:ext>
            </a:extLst>
          </p:cNvPr>
          <p:cNvSpPr txBox="1"/>
          <p:nvPr/>
        </p:nvSpPr>
        <p:spPr>
          <a:xfrm>
            <a:off x="1860982" y="393144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1BCBFF8-314B-4451-A916-3AC69B9B019A}"/>
              </a:ext>
            </a:extLst>
          </p:cNvPr>
          <p:cNvSpPr txBox="1"/>
          <p:nvPr/>
        </p:nvSpPr>
        <p:spPr>
          <a:xfrm>
            <a:off x="1945300" y="3675219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28B6CA5-B107-485F-90F7-B80F69EB198B}"/>
              </a:ext>
            </a:extLst>
          </p:cNvPr>
          <p:cNvSpPr txBox="1"/>
          <p:nvPr/>
        </p:nvSpPr>
        <p:spPr>
          <a:xfrm>
            <a:off x="1948820" y="3515862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1BC00431-1B05-423D-B796-BF75EADCBBAE}"/>
              </a:ext>
            </a:extLst>
          </p:cNvPr>
          <p:cNvCxnSpPr>
            <a:cxnSpLocks/>
          </p:cNvCxnSpPr>
          <p:nvPr/>
        </p:nvCxnSpPr>
        <p:spPr>
          <a:xfrm>
            <a:off x="2289104" y="3820720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0F1AC4A1-F8A8-4F59-8E63-403D2BC2FE29}"/>
              </a:ext>
            </a:extLst>
          </p:cNvPr>
          <p:cNvCxnSpPr>
            <a:cxnSpLocks/>
          </p:cNvCxnSpPr>
          <p:nvPr/>
        </p:nvCxnSpPr>
        <p:spPr>
          <a:xfrm>
            <a:off x="2358163" y="3873722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D92AA22-FEEF-48C4-BC61-E4E97EB254B5}"/>
              </a:ext>
            </a:extLst>
          </p:cNvPr>
          <p:cNvCxnSpPr>
            <a:cxnSpLocks/>
          </p:cNvCxnSpPr>
          <p:nvPr/>
        </p:nvCxnSpPr>
        <p:spPr>
          <a:xfrm flipV="1">
            <a:off x="2284342" y="3989372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129F3C5C-18E3-416F-8FAF-762138256A68}"/>
              </a:ext>
            </a:extLst>
          </p:cNvPr>
          <p:cNvCxnSpPr>
            <a:cxnSpLocks/>
          </p:cNvCxnSpPr>
          <p:nvPr/>
        </p:nvCxnSpPr>
        <p:spPr>
          <a:xfrm>
            <a:off x="2362926" y="3721326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937A688-AFA2-4BCC-9D87-2EDA76604A00}"/>
              </a:ext>
            </a:extLst>
          </p:cNvPr>
          <p:cNvCxnSpPr>
            <a:cxnSpLocks/>
          </p:cNvCxnSpPr>
          <p:nvPr/>
        </p:nvCxnSpPr>
        <p:spPr>
          <a:xfrm>
            <a:off x="2351631" y="3985750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B2FF6F1F-44BB-49D1-9E4F-D8538454B4CA}"/>
              </a:ext>
            </a:extLst>
          </p:cNvPr>
          <p:cNvCxnSpPr>
            <a:cxnSpLocks/>
          </p:cNvCxnSpPr>
          <p:nvPr/>
        </p:nvCxnSpPr>
        <p:spPr>
          <a:xfrm>
            <a:off x="2293865" y="3670283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EB93077-605B-4B10-AA43-0A1A8167DAFA}"/>
              </a:ext>
            </a:extLst>
          </p:cNvPr>
          <p:cNvSpPr txBox="1"/>
          <p:nvPr/>
        </p:nvSpPr>
        <p:spPr>
          <a:xfrm>
            <a:off x="2755177" y="3107194"/>
            <a:ext cx="3226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E70F44B-7E1A-4018-8AC1-A159B0FC7F7A}"/>
              </a:ext>
            </a:extLst>
          </p:cNvPr>
          <p:cNvSpPr txBox="1"/>
          <p:nvPr/>
        </p:nvSpPr>
        <p:spPr>
          <a:xfrm>
            <a:off x="5869852" y="2992894"/>
            <a:ext cx="53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Vector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#1~#3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왼쪽 중괄호 130">
            <a:extLst>
              <a:ext uri="{FF2B5EF4-FFF2-40B4-BE49-F238E27FC236}">
                <a16:creationId xmlns:a16="http://schemas.microsoft.com/office/drawing/2014/main" id="{E6E0F5BC-50B0-481A-9E94-E28D2A7F1195}"/>
              </a:ext>
            </a:extLst>
          </p:cNvPr>
          <p:cNvSpPr/>
          <p:nvPr/>
        </p:nvSpPr>
        <p:spPr>
          <a:xfrm rot="5400000">
            <a:off x="4281567" y="2103833"/>
            <a:ext cx="120650" cy="258524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왼쪽 중괄호 131">
            <a:extLst>
              <a:ext uri="{FF2B5EF4-FFF2-40B4-BE49-F238E27FC236}">
                <a16:creationId xmlns:a16="http://schemas.microsoft.com/office/drawing/2014/main" id="{1A12EB2B-C189-4355-8E22-376B92E6C706}"/>
              </a:ext>
            </a:extLst>
          </p:cNvPr>
          <p:cNvSpPr/>
          <p:nvPr/>
        </p:nvSpPr>
        <p:spPr>
          <a:xfrm rot="5400000">
            <a:off x="6088142" y="2996803"/>
            <a:ext cx="120650" cy="80089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BE9A6890-E4A0-4799-A930-571121E7993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963" t="25534" r="804"/>
          <a:stretch/>
        </p:blipFill>
        <p:spPr>
          <a:xfrm>
            <a:off x="2515870" y="1019175"/>
            <a:ext cx="4267200" cy="1633396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7A6907BC-0C96-409C-8EE0-288D82882258}"/>
              </a:ext>
            </a:extLst>
          </p:cNvPr>
          <p:cNvSpPr txBox="1"/>
          <p:nvPr/>
        </p:nvSpPr>
        <p:spPr>
          <a:xfrm>
            <a:off x="6778874" y="1602690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13EBECD-A1B0-4427-8B15-2D2BCA954746}"/>
              </a:ext>
            </a:extLst>
          </p:cNvPr>
          <p:cNvSpPr txBox="1"/>
          <p:nvPr/>
        </p:nvSpPr>
        <p:spPr>
          <a:xfrm>
            <a:off x="6801280" y="1462084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DC4E6D-A8B2-4368-9323-749913989DFD}"/>
              </a:ext>
            </a:extLst>
          </p:cNvPr>
          <p:cNvSpPr txBox="1"/>
          <p:nvPr/>
        </p:nvSpPr>
        <p:spPr>
          <a:xfrm>
            <a:off x="6796519" y="115985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D2ED881A-D4CB-4B4C-9EBB-21168D923BCB}"/>
              </a:ext>
            </a:extLst>
          </p:cNvPr>
          <p:cNvCxnSpPr>
            <a:cxnSpLocks/>
          </p:cNvCxnSpPr>
          <p:nvPr/>
        </p:nvCxnSpPr>
        <p:spPr>
          <a:xfrm>
            <a:off x="6811279" y="1495258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19BDFE03-2125-4B4D-AC8B-00F69FC26A71}"/>
              </a:ext>
            </a:extLst>
          </p:cNvPr>
          <p:cNvCxnSpPr>
            <a:cxnSpLocks/>
          </p:cNvCxnSpPr>
          <p:nvPr/>
        </p:nvCxnSpPr>
        <p:spPr>
          <a:xfrm>
            <a:off x="6718412" y="1497639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434B3775-8974-4DEC-AD10-63CD46B36B09}"/>
              </a:ext>
            </a:extLst>
          </p:cNvPr>
          <p:cNvCxnSpPr>
            <a:cxnSpLocks/>
          </p:cNvCxnSpPr>
          <p:nvPr/>
        </p:nvCxnSpPr>
        <p:spPr>
          <a:xfrm flipV="1">
            <a:off x="6816042" y="1316667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07E2872-EF4E-43D9-8A86-BA1156A2A5AF}"/>
              </a:ext>
            </a:extLst>
          </p:cNvPr>
          <p:cNvCxnSpPr>
            <a:cxnSpLocks/>
          </p:cNvCxnSpPr>
          <p:nvPr/>
        </p:nvCxnSpPr>
        <p:spPr>
          <a:xfrm>
            <a:off x="6723175" y="1359530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A154BAD8-F1F7-4BC6-B467-C60EB49366B4}"/>
              </a:ext>
            </a:extLst>
          </p:cNvPr>
          <p:cNvCxnSpPr>
            <a:cxnSpLocks/>
          </p:cNvCxnSpPr>
          <p:nvPr/>
        </p:nvCxnSpPr>
        <p:spPr>
          <a:xfrm>
            <a:off x="6711880" y="1609667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1FF19016-49DD-4975-8D52-09087230B3F1}"/>
              </a:ext>
            </a:extLst>
          </p:cNvPr>
          <p:cNvSpPr txBox="1"/>
          <p:nvPr/>
        </p:nvSpPr>
        <p:spPr>
          <a:xfrm>
            <a:off x="3877153" y="838200"/>
            <a:ext cx="1552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Mutant Library Quality Test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7A7E5123-5A5E-4FDE-8BD5-DDC1C2F4D531}"/>
              </a:ext>
            </a:extLst>
          </p:cNvPr>
          <p:cNvCxnSpPr>
            <a:cxnSpLocks/>
          </p:cNvCxnSpPr>
          <p:nvPr/>
        </p:nvCxnSpPr>
        <p:spPr>
          <a:xfrm>
            <a:off x="6811278" y="1607177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D4BCDA8-25CA-4C06-B179-B1E7E1623457}"/>
              </a:ext>
            </a:extLst>
          </p:cNvPr>
          <p:cNvSpPr txBox="1"/>
          <p:nvPr/>
        </p:nvSpPr>
        <p:spPr>
          <a:xfrm>
            <a:off x="1994332" y="1521618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414BCF5-BC2A-4322-A696-63278A859729}"/>
              </a:ext>
            </a:extLst>
          </p:cNvPr>
          <p:cNvSpPr txBox="1"/>
          <p:nvPr/>
        </p:nvSpPr>
        <p:spPr>
          <a:xfrm>
            <a:off x="2078650" y="1265394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EB8BC22-440B-46D0-9D67-79C930166FE8}"/>
              </a:ext>
            </a:extLst>
          </p:cNvPr>
          <p:cNvSpPr txBox="1"/>
          <p:nvPr/>
        </p:nvSpPr>
        <p:spPr>
          <a:xfrm>
            <a:off x="2082170" y="1106037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BD9CCA16-60A9-4BBC-AB83-C82A462900FC}"/>
              </a:ext>
            </a:extLst>
          </p:cNvPr>
          <p:cNvCxnSpPr>
            <a:cxnSpLocks/>
          </p:cNvCxnSpPr>
          <p:nvPr/>
        </p:nvCxnSpPr>
        <p:spPr>
          <a:xfrm>
            <a:off x="2422454" y="1410895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14BED287-076E-4E73-9E0C-17335B32648F}"/>
              </a:ext>
            </a:extLst>
          </p:cNvPr>
          <p:cNvCxnSpPr>
            <a:cxnSpLocks/>
          </p:cNvCxnSpPr>
          <p:nvPr/>
        </p:nvCxnSpPr>
        <p:spPr>
          <a:xfrm>
            <a:off x="2491513" y="1463897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1CEDB1E-187D-4F31-92D3-CAC50EDD953A}"/>
              </a:ext>
            </a:extLst>
          </p:cNvPr>
          <p:cNvCxnSpPr>
            <a:cxnSpLocks/>
          </p:cNvCxnSpPr>
          <p:nvPr/>
        </p:nvCxnSpPr>
        <p:spPr>
          <a:xfrm flipV="1">
            <a:off x="2417692" y="1579547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AF883E5B-10E2-4C37-AFB1-1529816F319A}"/>
              </a:ext>
            </a:extLst>
          </p:cNvPr>
          <p:cNvCxnSpPr>
            <a:cxnSpLocks/>
          </p:cNvCxnSpPr>
          <p:nvPr/>
        </p:nvCxnSpPr>
        <p:spPr>
          <a:xfrm>
            <a:off x="2496276" y="1311501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C3907B20-B45D-4D12-9839-7B83421C80FC}"/>
              </a:ext>
            </a:extLst>
          </p:cNvPr>
          <p:cNvCxnSpPr>
            <a:cxnSpLocks/>
          </p:cNvCxnSpPr>
          <p:nvPr/>
        </p:nvCxnSpPr>
        <p:spPr>
          <a:xfrm>
            <a:off x="2484981" y="1575925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BC35313C-8663-4C2D-93F6-BAB1AAF98A24}"/>
              </a:ext>
            </a:extLst>
          </p:cNvPr>
          <p:cNvCxnSpPr>
            <a:cxnSpLocks/>
          </p:cNvCxnSpPr>
          <p:nvPr/>
        </p:nvCxnSpPr>
        <p:spPr>
          <a:xfrm>
            <a:off x="2427215" y="1260458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235E330-748E-494A-81BE-B8E4E28885D4}"/>
              </a:ext>
            </a:extLst>
          </p:cNvPr>
          <p:cNvSpPr txBox="1"/>
          <p:nvPr/>
        </p:nvSpPr>
        <p:spPr>
          <a:xfrm>
            <a:off x="2607540" y="1054557"/>
            <a:ext cx="3226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PC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0EDE483-F8FA-4E70-9003-48A09B038F96}"/>
              </a:ext>
            </a:extLst>
          </p:cNvPr>
          <p:cNvSpPr txBox="1"/>
          <p:nvPr/>
        </p:nvSpPr>
        <p:spPr>
          <a:xfrm>
            <a:off x="2859953" y="1054557"/>
            <a:ext cx="3819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1   2    3   4   5   6    7    8    9  10  11  12  13 14  15  16  17  18  19  20</a:t>
            </a:r>
          </a:p>
        </p:txBody>
      </p:sp>
      <p:pic>
        <p:nvPicPr>
          <p:cNvPr id="159" name="그림 158">
            <a:extLst>
              <a:ext uri="{FF2B5EF4-FFF2-40B4-BE49-F238E27FC236}">
                <a16:creationId xmlns:a16="http://schemas.microsoft.com/office/drawing/2014/main" id="{26EC9152-9350-4752-BDF1-EBF0866FC7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3160" y="5075683"/>
            <a:ext cx="4605958" cy="1266062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6615603B-7039-4EB2-8732-FE7997E16E31}"/>
              </a:ext>
            </a:extLst>
          </p:cNvPr>
          <p:cNvSpPr txBox="1"/>
          <p:nvPr/>
        </p:nvSpPr>
        <p:spPr>
          <a:xfrm>
            <a:off x="7003667" y="5844169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8A4F16E-1620-42CB-9D45-54712134F63D}"/>
              </a:ext>
            </a:extLst>
          </p:cNvPr>
          <p:cNvSpPr txBox="1"/>
          <p:nvPr/>
        </p:nvSpPr>
        <p:spPr>
          <a:xfrm>
            <a:off x="7026073" y="572737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FB9BE17-773E-47A4-A5BF-F9A9EB18A8DA}"/>
              </a:ext>
            </a:extLst>
          </p:cNvPr>
          <p:cNvSpPr txBox="1"/>
          <p:nvPr/>
        </p:nvSpPr>
        <p:spPr>
          <a:xfrm>
            <a:off x="7021312" y="5487057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5D908A7-F631-477D-A5D6-47ED7F457F01}"/>
              </a:ext>
            </a:extLst>
          </p:cNvPr>
          <p:cNvCxnSpPr>
            <a:cxnSpLocks/>
          </p:cNvCxnSpPr>
          <p:nvPr/>
        </p:nvCxnSpPr>
        <p:spPr>
          <a:xfrm>
            <a:off x="7036072" y="5760547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B90B47DE-5F7B-4FB3-B443-21D8F126E687}"/>
              </a:ext>
            </a:extLst>
          </p:cNvPr>
          <p:cNvCxnSpPr>
            <a:cxnSpLocks/>
          </p:cNvCxnSpPr>
          <p:nvPr/>
        </p:nvCxnSpPr>
        <p:spPr>
          <a:xfrm>
            <a:off x="6943205" y="5762928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C608DEBE-C818-426A-BA08-A52E2CA2E9E0}"/>
              </a:ext>
            </a:extLst>
          </p:cNvPr>
          <p:cNvCxnSpPr>
            <a:cxnSpLocks/>
          </p:cNvCxnSpPr>
          <p:nvPr/>
        </p:nvCxnSpPr>
        <p:spPr>
          <a:xfrm flipV="1">
            <a:off x="7040835" y="5643871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F06B4CA2-DEC0-4E64-99D3-A3C4E37CA194}"/>
              </a:ext>
            </a:extLst>
          </p:cNvPr>
          <p:cNvCxnSpPr>
            <a:cxnSpLocks/>
          </p:cNvCxnSpPr>
          <p:nvPr/>
        </p:nvCxnSpPr>
        <p:spPr>
          <a:xfrm>
            <a:off x="6947968" y="568673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F5898BF6-AC18-4E99-9A0F-1BE47AE800EF}"/>
              </a:ext>
            </a:extLst>
          </p:cNvPr>
          <p:cNvCxnSpPr>
            <a:cxnSpLocks/>
          </p:cNvCxnSpPr>
          <p:nvPr/>
        </p:nvCxnSpPr>
        <p:spPr>
          <a:xfrm>
            <a:off x="6936673" y="5851146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2E5AE15-5548-4D9B-9C64-37C7A1D6549A}"/>
              </a:ext>
            </a:extLst>
          </p:cNvPr>
          <p:cNvCxnSpPr>
            <a:cxnSpLocks/>
          </p:cNvCxnSpPr>
          <p:nvPr/>
        </p:nvCxnSpPr>
        <p:spPr>
          <a:xfrm>
            <a:off x="7036071" y="5848656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FE1C37ED-CE93-4400-9D59-C811C9A9EA9E}"/>
              </a:ext>
            </a:extLst>
          </p:cNvPr>
          <p:cNvSpPr txBox="1"/>
          <p:nvPr/>
        </p:nvSpPr>
        <p:spPr>
          <a:xfrm>
            <a:off x="1914322" y="579961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9E56D65-5EF9-4AFC-9089-35CECC20059D}"/>
              </a:ext>
            </a:extLst>
          </p:cNvPr>
          <p:cNvSpPr txBox="1"/>
          <p:nvPr/>
        </p:nvSpPr>
        <p:spPr>
          <a:xfrm>
            <a:off x="1998640" y="5593394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C7BF206-F6CC-4117-82C0-BE500970E927}"/>
              </a:ext>
            </a:extLst>
          </p:cNvPr>
          <p:cNvSpPr txBox="1"/>
          <p:nvPr/>
        </p:nvSpPr>
        <p:spPr>
          <a:xfrm>
            <a:off x="2002160" y="5500716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BA14DAED-6C6C-44DE-837F-F458BB10B69E}"/>
              </a:ext>
            </a:extLst>
          </p:cNvPr>
          <p:cNvCxnSpPr>
            <a:cxnSpLocks/>
          </p:cNvCxnSpPr>
          <p:nvPr/>
        </p:nvCxnSpPr>
        <p:spPr>
          <a:xfrm>
            <a:off x="2342444" y="5729371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CBBFAD5-DEE9-465E-A3C8-1A58DFC82CDE}"/>
              </a:ext>
            </a:extLst>
          </p:cNvPr>
          <p:cNvCxnSpPr>
            <a:cxnSpLocks/>
          </p:cNvCxnSpPr>
          <p:nvPr/>
        </p:nvCxnSpPr>
        <p:spPr>
          <a:xfrm>
            <a:off x="2411503" y="578475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757176B-DD23-4371-9DE9-9DAF7C548BDC}"/>
              </a:ext>
            </a:extLst>
          </p:cNvPr>
          <p:cNvCxnSpPr>
            <a:cxnSpLocks/>
          </p:cNvCxnSpPr>
          <p:nvPr/>
        </p:nvCxnSpPr>
        <p:spPr>
          <a:xfrm flipV="1">
            <a:off x="2337682" y="5852780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27AF9C53-D078-4616-8178-E36FE99B5DD6}"/>
              </a:ext>
            </a:extLst>
          </p:cNvPr>
          <p:cNvCxnSpPr>
            <a:cxnSpLocks/>
          </p:cNvCxnSpPr>
          <p:nvPr/>
        </p:nvCxnSpPr>
        <p:spPr>
          <a:xfrm>
            <a:off x="2416266" y="5713323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35E87DF6-1988-4240-897C-252E897BD550}"/>
              </a:ext>
            </a:extLst>
          </p:cNvPr>
          <p:cNvCxnSpPr>
            <a:cxnSpLocks/>
          </p:cNvCxnSpPr>
          <p:nvPr/>
        </p:nvCxnSpPr>
        <p:spPr>
          <a:xfrm>
            <a:off x="2404971" y="5853920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CCE18FBE-63A2-47DC-A246-4CDC9B37278A}"/>
              </a:ext>
            </a:extLst>
          </p:cNvPr>
          <p:cNvCxnSpPr>
            <a:cxnSpLocks/>
          </p:cNvCxnSpPr>
          <p:nvPr/>
        </p:nvCxnSpPr>
        <p:spPr>
          <a:xfrm>
            <a:off x="2347205" y="5659899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2DF668F3-E5CB-42EB-A7A9-DA89DF50694A}"/>
              </a:ext>
            </a:extLst>
          </p:cNvPr>
          <p:cNvSpPr txBox="1"/>
          <p:nvPr/>
        </p:nvSpPr>
        <p:spPr>
          <a:xfrm>
            <a:off x="3666401" y="5105619"/>
            <a:ext cx="2120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Random Mutagenesis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Sample #1~#6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3" name="왼쪽 중괄호 182">
            <a:extLst>
              <a:ext uri="{FF2B5EF4-FFF2-40B4-BE49-F238E27FC236}">
                <a16:creationId xmlns:a16="http://schemas.microsoft.com/office/drawing/2014/main" id="{3E4B4AED-F62E-4D4D-9DAC-98B8B165EEAC}"/>
              </a:ext>
            </a:extLst>
          </p:cNvPr>
          <p:cNvSpPr/>
          <p:nvPr/>
        </p:nvSpPr>
        <p:spPr>
          <a:xfrm rot="5400000">
            <a:off x="4690030" y="3463210"/>
            <a:ext cx="77630" cy="407543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0DE66DE7-844D-42D6-87D6-1AD2D6E60A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6970" y="5674995"/>
            <a:ext cx="1715180" cy="1077869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EFD373FE-2006-4A3C-88DF-A97DBA77A253}"/>
              </a:ext>
            </a:extLst>
          </p:cNvPr>
          <p:cNvSpPr txBox="1"/>
          <p:nvPr/>
        </p:nvSpPr>
        <p:spPr>
          <a:xfrm>
            <a:off x="9573989" y="6165637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6DBD136-A90F-436B-A8AD-C03E43889F30}"/>
              </a:ext>
            </a:extLst>
          </p:cNvPr>
          <p:cNvSpPr txBox="1"/>
          <p:nvPr/>
        </p:nvSpPr>
        <p:spPr>
          <a:xfrm>
            <a:off x="9596395" y="6055988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B164B06-0311-4880-8A0E-5EED711A9FA3}"/>
              </a:ext>
            </a:extLst>
          </p:cNvPr>
          <p:cNvSpPr txBox="1"/>
          <p:nvPr/>
        </p:nvSpPr>
        <p:spPr>
          <a:xfrm>
            <a:off x="9591634" y="5791857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A0A3DC66-65C5-4445-A67A-85D2781A69E1}"/>
              </a:ext>
            </a:extLst>
          </p:cNvPr>
          <p:cNvCxnSpPr>
            <a:cxnSpLocks/>
          </p:cNvCxnSpPr>
          <p:nvPr/>
        </p:nvCxnSpPr>
        <p:spPr>
          <a:xfrm>
            <a:off x="9606394" y="6089162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1E4A345F-CBBB-4E70-BCA6-71A45174304B}"/>
              </a:ext>
            </a:extLst>
          </p:cNvPr>
          <p:cNvCxnSpPr>
            <a:cxnSpLocks/>
          </p:cNvCxnSpPr>
          <p:nvPr/>
        </p:nvCxnSpPr>
        <p:spPr>
          <a:xfrm>
            <a:off x="9513527" y="6091543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BDF6D1D2-3F82-450B-964C-2729584AF52C}"/>
              </a:ext>
            </a:extLst>
          </p:cNvPr>
          <p:cNvCxnSpPr>
            <a:cxnSpLocks/>
          </p:cNvCxnSpPr>
          <p:nvPr/>
        </p:nvCxnSpPr>
        <p:spPr>
          <a:xfrm flipV="1">
            <a:off x="9611157" y="5948671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47856AC-960C-4F46-A8EF-B9A8180DF88E}"/>
              </a:ext>
            </a:extLst>
          </p:cNvPr>
          <p:cNvCxnSpPr>
            <a:cxnSpLocks/>
          </p:cNvCxnSpPr>
          <p:nvPr/>
        </p:nvCxnSpPr>
        <p:spPr>
          <a:xfrm>
            <a:off x="9518290" y="599153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D343EB81-2919-43A3-B314-29162109AAC7}"/>
              </a:ext>
            </a:extLst>
          </p:cNvPr>
          <p:cNvCxnSpPr>
            <a:cxnSpLocks/>
          </p:cNvCxnSpPr>
          <p:nvPr/>
        </p:nvCxnSpPr>
        <p:spPr>
          <a:xfrm>
            <a:off x="9506995" y="617261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E381C0EA-3BB4-4BA1-A61B-DE580E636A8A}"/>
              </a:ext>
            </a:extLst>
          </p:cNvPr>
          <p:cNvCxnSpPr>
            <a:cxnSpLocks/>
          </p:cNvCxnSpPr>
          <p:nvPr/>
        </p:nvCxnSpPr>
        <p:spPr>
          <a:xfrm>
            <a:off x="9606393" y="6170124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A9D39DFB-C065-4603-901D-815D5B191242}"/>
              </a:ext>
            </a:extLst>
          </p:cNvPr>
          <p:cNvSpPr txBox="1"/>
          <p:nvPr/>
        </p:nvSpPr>
        <p:spPr>
          <a:xfrm>
            <a:off x="8446682" y="5373826"/>
            <a:ext cx="53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Vector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#1~#3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2" name="왼쪽 중괄호 201">
            <a:extLst>
              <a:ext uri="{FF2B5EF4-FFF2-40B4-BE49-F238E27FC236}">
                <a16:creationId xmlns:a16="http://schemas.microsoft.com/office/drawing/2014/main" id="{F8567DDB-714B-4CA7-9736-21BC3F5EED73}"/>
              </a:ext>
            </a:extLst>
          </p:cNvPr>
          <p:cNvSpPr/>
          <p:nvPr/>
        </p:nvSpPr>
        <p:spPr>
          <a:xfrm rot="5400000">
            <a:off x="8679656" y="5215413"/>
            <a:ext cx="58737" cy="12890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6717172E-DAB5-4BDC-8C29-81FEAF1EC2F6}"/>
              </a:ext>
            </a:extLst>
          </p:cNvPr>
          <p:cNvSpPr txBox="1"/>
          <p:nvPr/>
        </p:nvSpPr>
        <p:spPr>
          <a:xfrm>
            <a:off x="7348652" y="6143783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1.5kbp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778AA92-D125-4714-BD03-A88AFE98BCE2}"/>
              </a:ext>
            </a:extLst>
          </p:cNvPr>
          <p:cNvSpPr txBox="1"/>
          <p:nvPr/>
        </p:nvSpPr>
        <p:spPr>
          <a:xfrm>
            <a:off x="7432970" y="5937564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A2C9A8B-8788-4347-A497-4B0B2F4A808D}"/>
              </a:ext>
            </a:extLst>
          </p:cNvPr>
          <p:cNvSpPr txBox="1"/>
          <p:nvPr/>
        </p:nvSpPr>
        <p:spPr>
          <a:xfrm>
            <a:off x="7436490" y="5802022"/>
            <a:ext cx="530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3kbp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A2D7F11-7226-43F9-A0F6-231C4523CC27}"/>
              </a:ext>
            </a:extLst>
          </p:cNvPr>
          <p:cNvCxnSpPr>
            <a:cxnSpLocks/>
          </p:cNvCxnSpPr>
          <p:nvPr/>
        </p:nvCxnSpPr>
        <p:spPr>
          <a:xfrm>
            <a:off x="7776774" y="6073541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CEF42432-0B95-4AFF-A86A-113EB73AABB0}"/>
              </a:ext>
            </a:extLst>
          </p:cNvPr>
          <p:cNvCxnSpPr>
            <a:cxnSpLocks/>
          </p:cNvCxnSpPr>
          <p:nvPr/>
        </p:nvCxnSpPr>
        <p:spPr>
          <a:xfrm>
            <a:off x="7845833" y="6128924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86A73152-90F5-486F-8387-D5E0FADA1D40}"/>
              </a:ext>
            </a:extLst>
          </p:cNvPr>
          <p:cNvCxnSpPr>
            <a:cxnSpLocks/>
          </p:cNvCxnSpPr>
          <p:nvPr/>
        </p:nvCxnSpPr>
        <p:spPr>
          <a:xfrm flipV="1">
            <a:off x="7772012" y="6196950"/>
            <a:ext cx="69058" cy="42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87EAA3DD-2187-4BDD-8387-B6BA5C8C2595}"/>
              </a:ext>
            </a:extLst>
          </p:cNvPr>
          <p:cNvCxnSpPr>
            <a:cxnSpLocks/>
          </p:cNvCxnSpPr>
          <p:nvPr/>
        </p:nvCxnSpPr>
        <p:spPr>
          <a:xfrm>
            <a:off x="7850596" y="6014629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FA415820-0AC5-4E3E-8C0A-87B9774CDB7F}"/>
              </a:ext>
            </a:extLst>
          </p:cNvPr>
          <p:cNvCxnSpPr>
            <a:cxnSpLocks/>
          </p:cNvCxnSpPr>
          <p:nvPr/>
        </p:nvCxnSpPr>
        <p:spPr>
          <a:xfrm>
            <a:off x="7839301" y="6198090"/>
            <a:ext cx="97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9DC905BA-78E7-4036-878B-22F5E4E05BA5}"/>
              </a:ext>
            </a:extLst>
          </p:cNvPr>
          <p:cNvCxnSpPr>
            <a:cxnSpLocks/>
          </p:cNvCxnSpPr>
          <p:nvPr/>
        </p:nvCxnSpPr>
        <p:spPr>
          <a:xfrm>
            <a:off x="7781535" y="5961205"/>
            <a:ext cx="69056" cy="547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>
            <a:extLst>
              <a:ext uri="{FF2B5EF4-FFF2-40B4-BE49-F238E27FC236}">
                <a16:creationId xmlns:a16="http://schemas.microsoft.com/office/drawing/2014/main" id="{D7D0D1ED-7213-4788-BF74-3E1783B07CC9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2" t="36243" r="11552" b="14444"/>
          <a:stretch/>
        </p:blipFill>
        <p:spPr>
          <a:xfrm rot="16200000">
            <a:off x="8606126" y="3585502"/>
            <a:ext cx="1393031" cy="1375322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CBAC8BC0-9F80-47B2-ACA8-45AE6979376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9" t="39630" r="22557" b="10635"/>
          <a:stretch/>
        </p:blipFill>
        <p:spPr>
          <a:xfrm rot="16200000">
            <a:off x="8603364" y="2154883"/>
            <a:ext cx="1433872" cy="1409871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5D305F54-57A6-4321-8D41-D27B0FAC04E6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6" t="30952" r="20864" b="18466"/>
          <a:stretch/>
        </p:blipFill>
        <p:spPr>
          <a:xfrm rot="16200000">
            <a:off x="10021084" y="2141382"/>
            <a:ext cx="1435612" cy="1441646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CF2C0774-CFA5-4683-8A62-8C7DA1DF0CDD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11728" t="38657" r="21142" b="10995"/>
          <a:stretch/>
        </p:blipFill>
        <p:spPr>
          <a:xfrm rot="16200000">
            <a:off x="9989343" y="3569936"/>
            <a:ext cx="1423989" cy="1423989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EA711C4B-8864-4D80-B1BD-5BD7FEE3F5CF}"/>
              </a:ext>
            </a:extLst>
          </p:cNvPr>
          <p:cNvSpPr txBox="1"/>
          <p:nvPr/>
        </p:nvSpPr>
        <p:spPr>
          <a:xfrm>
            <a:off x="8763071" y="2676189"/>
            <a:ext cx="111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</a:t>
            </a: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ent Cell #1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Mutant Library #1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DF29505-CE07-4EA1-90C7-F341C48D61C7}"/>
              </a:ext>
            </a:extLst>
          </p:cNvPr>
          <p:cNvSpPr txBox="1"/>
          <p:nvPr/>
        </p:nvSpPr>
        <p:spPr>
          <a:xfrm>
            <a:off x="8763069" y="4078745"/>
            <a:ext cx="111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</a:t>
            </a: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ent Cell #1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Mutant Library #2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3BCA754-C0D1-48AB-9D03-3C1D8475F0FF}"/>
              </a:ext>
            </a:extLst>
          </p:cNvPr>
          <p:cNvSpPr txBox="1"/>
          <p:nvPr/>
        </p:nvSpPr>
        <p:spPr>
          <a:xfrm>
            <a:off x="10168007" y="2676185"/>
            <a:ext cx="1104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</a:t>
            </a: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ent Cell #2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Mutant Library #1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97FAEB0-8C6F-4671-808A-0BE7C52A7D40}"/>
              </a:ext>
            </a:extLst>
          </p:cNvPr>
          <p:cNvSpPr txBox="1"/>
          <p:nvPr/>
        </p:nvSpPr>
        <p:spPr>
          <a:xfrm>
            <a:off x="10168009" y="4078745"/>
            <a:ext cx="111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Compet</a:t>
            </a: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ent Cell #2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Mutant Library #2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3009BFA-D19E-4981-BBD9-33F18B01B136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" t="20875" r="12121" b="22222"/>
          <a:stretch/>
        </p:blipFill>
        <p:spPr>
          <a:xfrm>
            <a:off x="9004717" y="-445534"/>
            <a:ext cx="4068467" cy="371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3518</TotalTime>
  <Words>648</Words>
  <Application>Microsoft Office PowerPoint</Application>
  <PresentationFormat>와이드스크린</PresentationFormat>
  <Paragraphs>218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유지현</dc:creator>
  <cp:lastModifiedBy>유지현</cp:lastModifiedBy>
  <cp:revision>66</cp:revision>
  <dcterms:created xsi:type="dcterms:W3CDTF">2026-07-11T14:20:54Z</dcterms:created>
  <dcterms:modified xsi:type="dcterms:W3CDTF">2026-07-17T13:51:59Z</dcterms:modified>
</cp:coreProperties>
</file>